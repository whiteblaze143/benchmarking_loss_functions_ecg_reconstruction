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Hello everyone. I’m Mithun Manivannan from the University of Toronto and Sunnybrook Health Sciences Centre. Today I am presenting our work asking a fundamental question: can we reconstruct a full diagnostic twelve-lead electrocardiogram from only a few measured wearable leads?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Standard clinical care relies on a twelve-lead ECG, using ten electrodes to capture twelve spatial projections across frontal and horizontal planes. Consumer smartwatches, by contrast, measure only a single projection—Lead I across the wrists. While great for rhythm screening, most spatial information remains completely unobserved.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creates a fundamental reconstruction challenge: because multiple distinct cardiac electrical states project onto very similar single-lead signals, the problem is underdetermined. Rather than performing simple pointwise regression that averages away critical spikes, the model must infer plausible missing morphology while preserving sharp physiological features.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 address this, we developed ECG-AIM. ECG-AIM combines the raw temporal signal with a multiscale wavelet representation, maps these features into a compact latent representation, and jointly reconstructs the missing leads.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evaluated our framework across 175,000 hospital ECGs from PTB-XL and MIMIC-IV. We tested configurations ranging from one to three observed leads, compared directly against standard continuous 1D U-Net and MultiScale-VAE baselines, and evaluated both raw waveform fidelity and downstream clinical preservation.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With three complementary leads, reconstruction approaches the measured signal. With a single wearable-like Lead I, substantial morphology remains recoverable, but performance falls because the missing spatial information cannot be directly observed.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Crucially, the reconstruction preserved more than waveform similarity. On precordial morphology, ECG-AIM reaches a correlation of 0.776. For clinical timing, it achieves a QRS duration error of 8.0 milliseconds, meeting the clinical gate. And on downstream tasks, EchoNext structural AUROC reaches 0.775, closely tracking the 0.803 ground truth.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conclusion: first, reconstruction is limited by the spatial information observed. Second, ECG-AIM preserves substantial morphology and timing from limited leads. Third, prospective paired smartwatch to twelve-lead validation is our next test. Thank you very much for your attention, and I look forward to your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uoft_c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57200"/>
            <a:ext cx="2148840" cy="502920"/>
          </a:xfrm>
          <a:prstGeom prst="rect">
            <a:avLst/>
          </a:prstGeom>
        </p:spPr>
      </p:pic>
      <p:pic>
        <p:nvPicPr>
          <p:cNvPr id="3" name="Picture 2" descr="sunnybrook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1335" y="457200"/>
            <a:ext cx="2148840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1371600"/>
            <a:ext cx="10362895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Arial"/>
              </a:defRPr>
            </a:pPr>
            <a:r>
              <a:t>2026 CARNEGIE MELLON FORUM ON BIOMEDICAL ENGINEERING  •  ABSTRACT #194</a:t>
            </a:r>
          </a:p>
          <a:p>
            <a:pPr>
              <a:spcBef>
                <a:spcPts val="800"/>
              </a:spcBef>
              <a:defRPr sz="2600" b="1">
                <a:solidFill>
                  <a:srgbClr val="0F2042"/>
                </a:solidFill>
                <a:latin typeface="Arial"/>
              </a:defRPr>
            </a:pPr>
            <a:r>
              <a:t>Can We Reconstruct a Diagnostic 12-Lead ECG from Only a Few Measured Leads?</a:t>
            </a:r>
          </a:p>
          <a:p>
            <a:pPr>
              <a:spcBef>
                <a:spcPts val="600"/>
              </a:spcBef>
              <a:defRPr sz="1500">
                <a:solidFill>
                  <a:srgbClr val="64748B"/>
                </a:solidFill>
                <a:latin typeface="Arial"/>
              </a:defRPr>
            </a:pPr>
            <a:r>
              <a:t>Discrete Latent Sequence Generation for Limited-Lead ECG Reconstruction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931920"/>
            <a:ext cx="10362895" cy="1463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4069080"/>
            <a:ext cx="9966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F2042"/>
                </a:solidFill>
              </a:defRPr>
            </a:pPr>
            <a:r>
              <a:t>Mithun Manivannan, BSc¹'²  •  Alex Mariakakis, PhD¹  •  Christopher Cheung, MD²</a:t>
            </a:r>
          </a:p>
          <a:p>
            <a:pPr algn="ctr">
              <a:spcBef>
                <a:spcPts val="400"/>
              </a:spcBef>
              <a:defRPr sz="1150">
                <a:solidFill>
                  <a:srgbClr val="1E293B"/>
                </a:solidFill>
              </a:defRPr>
            </a:pPr>
            <a:r>
              <a:t>¹Department of Computer Science, University of Toronto    |    ²Division of Cardiology, Sunnybrook Health Sciences Centre</a:t>
            </a:r>
          </a:p>
          <a:p>
            <a:pPr algn="ctr">
              <a:spcBef>
                <a:spcPts val="400"/>
              </a:spcBef>
              <a:defRPr sz="1050">
                <a:solidFill>
                  <a:srgbClr val="0284C7"/>
                </a:solidFill>
              </a:defRPr>
            </a:pPr>
            <a:r>
              <a:t>Contact: mithun.manivannan@sri.utoronto.ca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284C7"/>
                </a:solidFill>
                <a:latin typeface="Arial"/>
              </a:defRPr>
            </a:pPr>
            <a:r>
              <a:t>CLINICAL CONTEXT</a:t>
            </a:r>
          </a:p>
          <a:p>
            <a:pPr>
              <a:defRPr sz="2000" b="1">
                <a:solidFill>
                  <a:srgbClr val="0F2042"/>
                </a:solidFill>
                <a:latin typeface="Arial"/>
              </a:defRPr>
            </a:pPr>
            <a:r>
              <a:t>12 Leads vs. One Wearable Lead</a:t>
            </a:r>
          </a:p>
          <a:p>
            <a:pPr>
              <a:defRPr sz="1150">
                <a:solidFill>
                  <a:srgbClr val="64748B"/>
                </a:solidFill>
                <a:latin typeface="Arial"/>
              </a:defRPr>
            </a:pPr>
            <a:r>
              <a:t>Comparing full hospital diagnostic fields against consumer wearable monitoring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144768"/>
            <a:ext cx="1072865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Arial"/>
              </a:defRPr>
            </a:pPr>
            <a:r>
              <a:t>Ref: Perez et al., Apple Heart Study, N Engl J Med 2019; Cheung et al., Heart Rhythm 2023.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8686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Carnegie Mellon Forum on Biomedical Engineering 2026  •  Abstract #194  •  Discrete Latent ECG Reconstruction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46520"/>
            <a:ext cx="18589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1E3A8A"/>
                </a:solidFill>
                <a:latin typeface="Arial"/>
              </a:defRPr>
            </a:pPr>
            <a:r>
              <a:t>Slide 2 of 8</a:t>
            </a:r>
          </a:p>
        </p:txBody>
      </p:sp>
      <p:pic>
        <p:nvPicPr>
          <p:cNvPr id="7" name="Picture 6" descr="ecg_delineation_compon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08760"/>
            <a:ext cx="5486400" cy="28346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1520" y="4480560"/>
            <a:ext cx="5486400" cy="1508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617720"/>
            <a:ext cx="51206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F2042"/>
                </a:solidFill>
              </a:defRPr>
            </a:pPr>
            <a:r>
              <a:t>Electrophysiological Fiducials</a:t>
            </a:r>
          </a:p>
          <a:p>
            <a:pPr algn="ctr">
              <a:spcBef>
                <a:spcPts val="600"/>
              </a:spcBef>
              <a:defRPr sz="1150">
                <a:solidFill>
                  <a:srgbClr val="1E293B"/>
                </a:solidFill>
              </a:defRPr>
            </a:pPr>
            <a:r>
              <a:t>P wave (atria)  →  QRS complex (ventricles)  →  ST–T (repolarization)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1508760"/>
            <a:ext cx="4967935" cy="20574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2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1627632"/>
            <a:ext cx="460217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F2042"/>
                </a:solidFill>
              </a:defRPr>
            </a:pPr>
            <a:r>
              <a:t>Clinical 12-Lead ECG</a:t>
            </a:r>
          </a:p>
          <a:p>
            <a:pPr algn="ctr">
              <a:spcBef>
                <a:spcPts val="200"/>
              </a:spcBef>
              <a:defRPr sz="1300" b="1">
                <a:solidFill>
                  <a:srgbClr val="1E3A8A"/>
                </a:solidFill>
              </a:defRPr>
            </a:pPr>
            <a:r>
              <a:t>12 Spatial Views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</a:defRPr>
            </a:pPr>
            <a:r>
              <a:t>• Frontal (I–aVF) + Precordial (V1–V6) planes</a:t>
            </a:r>
            <a:br/>
            <a:r>
              <a:t>• Comprehensive 3D cardiac vector field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3749039"/>
            <a:ext cx="4967935" cy="22402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3867912"/>
            <a:ext cx="460217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DC2626"/>
                </a:solidFill>
              </a:defRPr>
            </a:pPr>
            <a:r>
              <a:t>Smartwatch ECG</a:t>
            </a:r>
          </a:p>
          <a:p>
            <a:pPr algn="ctr">
              <a:spcBef>
                <a:spcPts val="200"/>
              </a:spcBef>
              <a:defRPr sz="1300" b="1">
                <a:solidFill>
                  <a:srgbClr val="DC2626"/>
                </a:solidFill>
              </a:defRPr>
            </a:pPr>
            <a:r>
              <a:t>1 Measured Projection</a:t>
            </a:r>
          </a:p>
          <a:p>
            <a:pPr>
              <a:spcBef>
                <a:spcPts val="600"/>
              </a:spcBef>
              <a:defRPr sz="1150">
                <a:solidFill>
                  <a:srgbClr val="1E293B"/>
                </a:solidFill>
              </a:defRPr>
            </a:pPr>
            <a:r>
              <a:t>• Single wrist transverse vector (Lead I)</a:t>
            </a:r>
            <a:br/>
            <a:r>
              <a:t>• Completely blind to vertical &amp; chest planes</a:t>
            </a:r>
          </a:p>
          <a:p>
            <a:pPr algn="ctr">
              <a:spcBef>
                <a:spcPts val="600"/>
              </a:spcBef>
              <a:defRPr sz="1150" b="1">
                <a:solidFill>
                  <a:srgbClr val="DC2626"/>
                </a:solidFill>
              </a:defRPr>
            </a:pPr>
            <a:r>
              <a:t>Most spatial information is unobserved.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284C7"/>
                </a:solidFill>
                <a:latin typeface="Arial"/>
              </a:defRPr>
            </a:pPr>
            <a:r>
              <a:t>MATHEMATICAL FORMULATION</a:t>
            </a:r>
          </a:p>
          <a:p>
            <a:pPr>
              <a:defRPr sz="2000" b="1">
                <a:solidFill>
                  <a:srgbClr val="0F2042"/>
                </a:solidFill>
                <a:latin typeface="Arial"/>
              </a:defRPr>
            </a:pPr>
            <a:r>
              <a:t>The Reconstruction Challenge</a:t>
            </a:r>
          </a:p>
          <a:p>
            <a:pPr>
              <a:defRPr sz="1150">
                <a:solidFill>
                  <a:srgbClr val="64748B"/>
                </a:solidFill>
                <a:latin typeface="Arial"/>
              </a:defRPr>
            </a:pPr>
            <a:r>
              <a:t>Inferring unobserved 3D fields without statistical mean collapse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144768"/>
            <a:ext cx="1072865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Arial"/>
              </a:defRPr>
            </a:pPr>
            <a:r>
              <a:t>Ref: Frank, Circulation 1956; Atoui et al., IEEE TBME 2010.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8686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Carnegie Mellon Forum on Biomedical Engineering 2026  •  Abstract #194  •  Discrete Latent ECG Reconstruction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46520"/>
            <a:ext cx="18589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1E3A8A"/>
                </a:solidFill>
                <a:latin typeface="Arial"/>
              </a:defRPr>
            </a:pPr>
            <a:r>
              <a:t>Slide 3 of 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10728655" cy="1051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2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00200"/>
            <a:ext cx="10362895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F2042"/>
                </a:solidFill>
              </a:defRPr>
            </a:pPr>
            <a:r>
              <a:t>One Observed Lead    ⟶    [ ? ]    ⟶    12-Lead ECG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788920"/>
            <a:ext cx="5212080" cy="31089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971800"/>
            <a:ext cx="4846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3A8A"/>
                </a:solidFill>
              </a:defRPr>
            </a:pPr>
            <a:r>
              <a:t>Spatial Ambiguity</a:t>
            </a:r>
          </a:p>
          <a:p>
            <a:pPr algn="ctr">
              <a:spcBef>
                <a:spcPts val="1400"/>
              </a:spcBef>
              <a:defRPr sz="1300">
                <a:solidFill>
                  <a:srgbClr val="1E293B"/>
                </a:solidFill>
              </a:defRPr>
            </a:pPr>
            <a:r>
              <a:t>Different cardiac electrical states can produce similar single-lead measurements.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8095" y="2788920"/>
            <a:ext cx="5212080" cy="31089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30975" y="2971800"/>
            <a:ext cx="4846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59669"/>
                </a:solidFill>
              </a:defRPr>
            </a:pPr>
            <a:r>
              <a:t>Generative Inference</a:t>
            </a:r>
          </a:p>
          <a:p>
            <a:pPr algn="ctr">
              <a:spcBef>
                <a:spcPts val="1400"/>
              </a:spcBef>
              <a:defRPr sz="1300">
                <a:solidFill>
                  <a:srgbClr val="1E293B"/>
                </a:solidFill>
              </a:defRPr>
            </a:pPr>
            <a:r>
              <a:t>The model therefore has to infer plausible missing morphology without simply smoothing it away.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284C7"/>
                </a:solidFill>
                <a:latin typeface="Arial"/>
              </a:defRPr>
            </a:pPr>
            <a:r>
              <a:t>METHODOLOGICAL CONTRIBUTION</a:t>
            </a:r>
          </a:p>
          <a:p>
            <a:pPr>
              <a:defRPr sz="2000" b="1">
                <a:solidFill>
                  <a:srgbClr val="0F2042"/>
                </a:solidFill>
                <a:latin typeface="Arial"/>
              </a:defRPr>
            </a:pPr>
            <a:r>
              <a:t>ECG-AIM Model Architecture</a:t>
            </a:r>
          </a:p>
          <a:p>
            <a:pPr>
              <a:defRPr sz="1150">
                <a:solidFill>
                  <a:srgbClr val="64748B"/>
                </a:solidFill>
                <a:latin typeface="Arial"/>
              </a:defRPr>
            </a:pPr>
            <a:r>
              <a:t>Disentangled time-frequency conditioning with axial transformer cross-attention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144768"/>
            <a:ext cx="1072865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Arial"/>
              </a:defRPr>
            </a:pPr>
            <a:r>
              <a:t>Ref: van den Oord et al., VQ-VAE, NeurIPS 2017; Ho et al., Axial Attention, ECCV 2020.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8686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Carnegie Mellon Forum on Biomedical Engineering 2026  •  Abstract #194  •  Discrete Latent ECG Reconstruction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46520"/>
            <a:ext cx="18589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1E3A8A"/>
                </a:solidFill>
                <a:latin typeface="Arial"/>
              </a:defRPr>
            </a:pPr>
            <a:r>
              <a:t>Slide 4 of 8</a:t>
            </a:r>
          </a:p>
        </p:txBody>
      </p:sp>
      <p:pic>
        <p:nvPicPr>
          <p:cNvPr id="7" name="Picture 6" descr="conv15e_a0_wave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17320"/>
            <a:ext cx="10728655" cy="46177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284C7"/>
                </a:solidFill>
                <a:latin typeface="Arial"/>
              </a:defRPr>
            </a:pPr>
            <a:r>
              <a:t>BENCHMARK SETUP</a:t>
            </a:r>
          </a:p>
          <a:p>
            <a:pPr>
              <a:defRPr sz="2000" b="1">
                <a:solidFill>
                  <a:srgbClr val="0F2042"/>
                </a:solidFill>
                <a:latin typeface="Arial"/>
              </a:defRPr>
            </a:pPr>
            <a:r>
              <a:t>Experimental Setup</a:t>
            </a:r>
          </a:p>
          <a:p>
            <a:pPr>
              <a:defRPr sz="1150">
                <a:solidFill>
                  <a:srgbClr val="64748B"/>
                </a:solidFill>
                <a:latin typeface="Arial"/>
              </a:defRPr>
            </a:pPr>
            <a:r>
              <a:t>Rigorous multi-cohort evaluation across diverse clinical populations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144768"/>
            <a:ext cx="1072865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Arial"/>
              </a:defRPr>
            </a:pPr>
            <a:r>
              <a:t>Ref: Wagner et al., PTB-XL, Sci Data 2020; Gow et al., MIMIC-IV-ECG, PhysioNet 2023.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8686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Carnegie Mellon Forum on Biomedical Engineering 2026  •  Abstract #194  •  Discrete Latent ECG Reconstruction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46520"/>
            <a:ext cx="18589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1E3A8A"/>
                </a:solidFill>
                <a:latin typeface="Arial"/>
              </a:defRPr>
            </a:pPr>
            <a:r>
              <a:t>Slide 5 of 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5212080" cy="2011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2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F2042"/>
                </a:solidFill>
              </a:defRPr>
            </a:pPr>
            <a:r>
              <a:t>~175k ECGs</a:t>
            </a:r>
          </a:p>
          <a:p>
            <a:pPr algn="ctr"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Trained and benchmarked across diverse cohorts from PTB-XL and MIMIC-IV-ECG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8095" y="1554480"/>
            <a:ext cx="5212080" cy="2011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30975" y="173736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3A8A"/>
                </a:solidFill>
              </a:defRPr>
            </a:pPr>
            <a:r>
              <a:t>Competitive Baselines</a:t>
            </a:r>
          </a:p>
          <a:p>
            <a:pPr algn="ctr"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Direct head-to-head comparison against continuous 1D U-Net and MultiScale-VAE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840480"/>
            <a:ext cx="5212080" cy="2011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02336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284C7"/>
                </a:solidFill>
              </a:defRPr>
            </a:pPr>
            <a:r>
              <a:t>1 to 3 Observed Leads</a:t>
            </a:r>
          </a:p>
          <a:p>
            <a:pPr algn="ctr"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Evaluated from single wearable Lead I up to 3 complementary leads (I, II, V2)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8095" y="3840480"/>
            <a:ext cx="5212080" cy="2011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30975" y="402336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59669"/>
                </a:solidFill>
              </a:defRPr>
            </a:pPr>
            <a:r>
              <a:t>Comprehensive Evaluation</a:t>
            </a:r>
          </a:p>
          <a:p>
            <a:pPr algn="ctr"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Evaluated on waveform correlation, QRS timing, and downstream clinical preservation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284C7"/>
                </a:solidFill>
                <a:latin typeface="Arial"/>
              </a:defRPr>
            </a:pPr>
            <a:r>
              <a:t>RECONSTRUCTION BENCHMARK</a:t>
            </a:r>
          </a:p>
          <a:p>
            <a:pPr>
              <a:defRPr sz="2000" b="1">
                <a:solidFill>
                  <a:srgbClr val="0F2042"/>
                </a:solidFill>
                <a:latin typeface="Arial"/>
              </a:defRPr>
            </a:pPr>
            <a:r>
              <a:t>Spatial Information Determines Reconstruction Quality</a:t>
            </a:r>
          </a:p>
          <a:p>
            <a:pPr>
              <a:defRPr sz="1150">
                <a:solidFill>
                  <a:srgbClr val="64748B"/>
                </a:solidFill>
                <a:latin typeface="Arial"/>
              </a:defRPr>
            </a:pPr>
            <a:r>
              <a:t>Reconstruction quality scales sharply with complementary spatial measurements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144768"/>
            <a:ext cx="1072865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Arial"/>
              </a:defRPr>
            </a:pPr>
            <a:r>
              <a:t>Ref: Frank, Circulation 1956; Atoui et al., IEEE TBME 2010.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8686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Carnegie Mellon Forum on Biomedical Engineering 2026  •  Abstract #194  •  Discrete Latent ECG Reconstruction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46520"/>
            <a:ext cx="18589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1E3A8A"/>
                </a:solidFill>
                <a:latin typeface="Arial"/>
              </a:defRPr>
            </a:pPr>
            <a:r>
              <a:t>Slide 6 of 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212080" cy="3566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50876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059669"/>
                </a:solidFill>
              </a:defRPr>
            </a:pPr>
            <a:r>
              <a:t>3 Leads Acquired (I, II, V2):  r &gt; 0.98</a:t>
            </a:r>
          </a:p>
        </p:txBody>
      </p:sp>
      <p:pic>
        <p:nvPicPr>
          <p:cNvPr id="9" name="Picture 8" descr="best_ecg_aim_12lead_reconstru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920240"/>
            <a:ext cx="4937760" cy="301752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248095" y="1463040"/>
            <a:ext cx="5212080" cy="3566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39535" y="150876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E3A8A"/>
                </a:solidFill>
              </a:defRPr>
            </a:pPr>
            <a:r>
              <a:t>1 Lead Acquired (Smartwatch Lead I):  r = 0.776</a:t>
            </a:r>
          </a:p>
        </p:txBody>
      </p:sp>
      <p:pic>
        <p:nvPicPr>
          <p:cNvPr id="12" name="Picture 11" descr="best_ecg_aim_lead1_reconstru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5255" y="1920240"/>
            <a:ext cx="4937760" cy="301752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731520" y="5166360"/>
            <a:ext cx="10728655" cy="8229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5230368"/>
            <a:ext cx="1045433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59669"/>
                </a:solidFill>
              </a:defRPr>
            </a:pPr>
            <a:r>
              <a:t>Adding complementary spatial measurements sharply improves reconstruction.</a:t>
            </a:r>
          </a:p>
          <a:p>
            <a:pPr algn="ctr">
              <a:defRPr sz="1100">
                <a:solidFill>
                  <a:srgbClr val="1E293B"/>
                </a:solidFill>
              </a:defRPr>
            </a:pPr>
            <a:r>
              <a:t>Spatially complementary leads provide substantially more information for reconstruction.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284C7"/>
                </a:solidFill>
                <a:latin typeface="Arial"/>
              </a:defRPr>
            </a:pPr>
            <a:r>
              <a:t>CLINICAL UTILITY</a:t>
            </a:r>
          </a:p>
          <a:p>
            <a:pPr>
              <a:defRPr sz="2000" b="1">
                <a:solidFill>
                  <a:srgbClr val="0F2042"/>
                </a:solidFill>
                <a:latin typeface="Arial"/>
              </a:defRPr>
            </a:pPr>
            <a:r>
              <a:t>Preservation of Clinically Relevant Structure</a:t>
            </a:r>
          </a:p>
          <a:p>
            <a:pPr>
              <a:defRPr sz="1150">
                <a:solidFill>
                  <a:srgbClr val="64748B"/>
                </a:solidFill>
                <a:latin typeface="Arial"/>
              </a:defRPr>
            </a:pPr>
            <a:r>
              <a:t>Validating beyond Euclidean waveform similarity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144768"/>
            <a:ext cx="1072865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Arial"/>
              </a:defRPr>
            </a:pPr>
            <a:r>
              <a:t>Ref: Holste et al., EchoNext Structural Prediction, JACC Adv 2024; Surawicz et al., JACC 2009.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8686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Carnegie Mellon Forum on Biomedical Engineering 2026  •  Abstract #194  •  Discrete Latent ECG Reconstruction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46520"/>
            <a:ext cx="18589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1E3A8A"/>
                </a:solidFill>
                <a:latin typeface="Arial"/>
              </a:defRPr>
            </a:pPr>
            <a:r>
              <a:t>Slide 7 of 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3332073" cy="3474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2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91640"/>
            <a:ext cx="3057753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F2042"/>
                </a:solidFill>
              </a:defRPr>
            </a:pPr>
            <a:r>
              <a:t>Morphology</a:t>
            </a:r>
          </a:p>
          <a:p>
            <a:pPr algn="ctr">
              <a:spcBef>
                <a:spcPts val="1400"/>
              </a:spcBef>
              <a:defRPr sz="3000" b="1">
                <a:solidFill>
                  <a:srgbClr val="0F2042"/>
                </a:solidFill>
              </a:defRPr>
            </a:pPr>
            <a:r>
              <a:t>0.776</a:t>
            </a:r>
          </a:p>
          <a:p>
            <a:pPr algn="ctr">
              <a:spcBef>
                <a:spcPts val="1000"/>
              </a:spcBef>
              <a:defRPr sz="1200" b="1">
                <a:solidFill>
                  <a:srgbClr val="1E293B"/>
                </a:solidFill>
              </a:defRPr>
            </a:pPr>
            <a:r>
              <a:t>Precordial Lead r</a:t>
            </a:r>
          </a:p>
          <a:p>
            <a:pPr algn="ctr">
              <a:spcBef>
                <a:spcPts val="400"/>
              </a:spcBef>
              <a:defRPr sz="1050">
                <a:solidFill>
                  <a:srgbClr val="64748B"/>
                </a:solidFill>
              </a:defRPr>
            </a:pPr>
            <a:r>
              <a:t>(vs. 0.571 U-Net, 0.684 MS-VAE)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9353" y="1508760"/>
            <a:ext cx="3332073" cy="3474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66513" y="1691640"/>
            <a:ext cx="3057753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59669"/>
                </a:solidFill>
              </a:defRPr>
            </a:pPr>
            <a:r>
              <a:t>Timing</a:t>
            </a:r>
          </a:p>
          <a:p>
            <a:pPr algn="ctr">
              <a:spcBef>
                <a:spcPts val="1400"/>
              </a:spcBef>
              <a:defRPr sz="3000" b="1">
                <a:solidFill>
                  <a:srgbClr val="059669"/>
                </a:solidFill>
              </a:defRPr>
            </a:pPr>
            <a:r>
              <a:t>8.0 ms</a:t>
            </a:r>
          </a:p>
          <a:p>
            <a:pPr algn="ctr">
              <a:spcBef>
                <a:spcPts val="1000"/>
              </a:spcBef>
              <a:defRPr sz="1200" b="1">
                <a:solidFill>
                  <a:srgbClr val="1E293B"/>
                </a:solidFill>
              </a:defRPr>
            </a:pPr>
            <a:r>
              <a:t>QRS Timing Error</a:t>
            </a:r>
          </a:p>
          <a:p>
            <a:pPr algn="ctr">
              <a:spcBef>
                <a:spcPts val="400"/>
              </a:spcBef>
              <a:defRPr sz="1050">
                <a:solidFill>
                  <a:srgbClr val="64748B"/>
                </a:solidFill>
              </a:defRPr>
            </a:pPr>
            <a:r>
              <a:t>(Meets &lt; 10.0 ms Clinical Gate)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27187" y="1508760"/>
            <a:ext cx="3332073" cy="3474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64347" y="1691640"/>
            <a:ext cx="3057753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284C7"/>
                </a:solidFill>
              </a:defRPr>
            </a:pPr>
            <a:r>
              <a:t>Downstream Task</a:t>
            </a:r>
          </a:p>
          <a:p>
            <a:pPr algn="ctr">
              <a:spcBef>
                <a:spcPts val="1400"/>
              </a:spcBef>
              <a:defRPr sz="3000" b="1">
                <a:solidFill>
                  <a:srgbClr val="0284C7"/>
                </a:solidFill>
              </a:defRPr>
            </a:pPr>
            <a:r>
              <a:t>0.775</a:t>
            </a:r>
          </a:p>
          <a:p>
            <a:pPr algn="ctr">
              <a:spcBef>
                <a:spcPts val="1000"/>
              </a:spcBef>
              <a:defRPr sz="1200" b="1">
                <a:solidFill>
                  <a:srgbClr val="1E293B"/>
                </a:solidFill>
              </a:defRPr>
            </a:pPr>
            <a:r>
              <a:t>EchoNext Structural AUROC</a:t>
            </a:r>
          </a:p>
          <a:p>
            <a:pPr algn="ctr">
              <a:spcBef>
                <a:spcPts val="400"/>
              </a:spcBef>
              <a:defRPr sz="1050">
                <a:solidFill>
                  <a:srgbClr val="64748B"/>
                </a:solidFill>
              </a:defRPr>
            </a:pPr>
            <a:r>
              <a:t>(Ground Truth = 0.803)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166360"/>
            <a:ext cx="10728655" cy="8229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5257800"/>
            <a:ext cx="1045433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59669"/>
                </a:solidFill>
              </a:defRPr>
            </a:pPr>
            <a:r>
              <a:t>The reconstruction preserved more than waveform similarity.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284C7"/>
                </a:solidFill>
                <a:latin typeface="Arial"/>
              </a:defRPr>
            </a:pPr>
            <a:r>
              <a:t>CONCLUSIONS &amp; FUTURE WORK</a:t>
            </a:r>
          </a:p>
          <a:p>
            <a:pPr>
              <a:defRPr sz="2000" b="1">
                <a:solidFill>
                  <a:srgbClr val="0F2042"/>
                </a:solidFill>
                <a:latin typeface="Arial"/>
              </a:defRPr>
            </a:pPr>
            <a:r>
              <a:t>Conclusions and Translational Next Steps</a:t>
            </a:r>
          </a:p>
          <a:p>
            <a:pPr>
              <a:defRPr sz="1150">
                <a:solidFill>
                  <a:srgbClr val="64748B"/>
                </a:solidFill>
                <a:latin typeface="Arial"/>
              </a:defRPr>
            </a:pPr>
            <a:r>
              <a:t>Core insights and prospective clinical validation roadmap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8686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Carnegie Mellon Forum on Biomedical Engineering 2026  •  Abstract #194  •  Discrete Latent ECG Reconstruction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446520"/>
            <a:ext cx="18589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1E3A8A"/>
                </a:solidFill>
                <a:latin typeface="Arial"/>
              </a:defRPr>
            </a:pPr>
            <a:r>
              <a:t>Slide 8 of 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10728655" cy="1051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20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72768"/>
            <a:ext cx="10362895" cy="832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2042"/>
                </a:solidFill>
              </a:defRPr>
            </a:pPr>
            <a:r>
              <a:t>1. Reconstruction is limited by the spatial information observed.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Single wearable Lead I recovers useful morphology (r = 0.78); 3 complementary leads unlock near-lossless recovery (r &gt; 0.98).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697480"/>
            <a:ext cx="10728655" cy="1051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807208"/>
            <a:ext cx="10362895" cy="832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3A8A"/>
                </a:solidFill>
              </a:defRPr>
            </a:pPr>
            <a:r>
              <a:t>2. ECG-AIM preserves substantial morphology and timing from limited leads.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Reconstructed signals meet clinical timing gates (8.0 ms QRS error) and retain downstream diagnostic utility (0.775 EchoNext AUROC).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10728655" cy="1051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041648"/>
            <a:ext cx="10362895" cy="832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59669"/>
                </a:solidFill>
              </a:defRPr>
            </a:pPr>
            <a:r>
              <a:t>3. Prospective paired smartwatch–12-lead validation is the next test.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Translating from retrospective archives to live clinical deployment requires validating across live hardware factors.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30352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284C7"/>
                </a:solidFill>
              </a:defRPr>
            </a:pPr>
            <a:r>
              <a:t>Sunnybrook paired validation protocol in preparation  •  PI: Dr. Christopher Cheung</a:t>
            </a:r>
          </a:p>
          <a:p>
            <a:pPr algn="ctr">
              <a:spcBef>
                <a:spcPts val="300"/>
              </a:spcBef>
              <a:defRPr sz="1000">
                <a:solidFill>
                  <a:srgbClr val="64748B"/>
                </a:solidFill>
              </a:defRPr>
            </a:pPr>
            <a:r>
              <a:t>Mithun Manivannan  •  mithun.manivannan@sri.utoronto.ca  •  Abstract #194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