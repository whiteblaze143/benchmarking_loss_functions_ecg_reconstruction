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Chris, good morning Alex. The purpose of today's meeting is straightforward: we already have an established clinical trial protocol—the Sunnybrook FitBit/Wearable ECG Study, authored by Chris, Alex, and our team. Our goal today is to establish how we can cleanly integrate our single-lead to 12-lead AI reconstruction research into this existing trial as a pre-specified secondary translational aim, without adding patient burden or endangering the primary clinical trial endpoints.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layout for today. Box 1 is our foundation: Chris's clinical protocol is locked. It evaluates smartwatch monitoring versus continuous CardioSTAT patch for post-ablation AF recurrence. Box 2 is our methodological reality check: we know 12-lead reconstruction does not work with uniform diagnostic precision across all leads and patients; staking the trial on reconstruction would be scientifically unsound. Box 3 is our opportunity: during routine clinical visits, we can capture simultaneous paired watch and 12-lead recordings. This establishes a publishable secondary translational AI aim while protecting the primary trial.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 designed this study to evaluate whether daily smartwatch ECG recordings and photoplethysmography irregular rhythm notifications detect recurrent AF earlier than standard-of-care intermittent patch monitoring. Patients receive a 14-day CardioSTAT patch at 3 months and 6 months post-procedure. The sample size is 96 patients, starting with a 20-patient vanguard. This clinical core remains completely sovereign.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and clinical colleagues will rightly push back if anyone claims a smartwatch can replace a diagnostic 12-lead machine today. Electrophysiologically, reconstructing 12 leads from one lead is an underdetermined inverse problem with known variance compression. If a clinical trial staked its primary regulatory endpoint on 12-lead reconstruction accuracy, it would introduce severe risk. However, that does not mean the data is useless—it means reconstruction belongs strictly as a secondary translational aim.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architecture cleanly separates the two efforts. Track 1 is Chris's primary clinical trial: time to recurrent AF detection, backed by the 14-day CardioSTAT patch. This guarantees the study will produce high-impact clinical papers regardless of AI performance. Track 2 is Alex's and our translational AI research: we pre-specify 12-lead reconstruction as a secondary translational aim. We use the in-clinic paired recordings to benchmark transfer functions, domain adaptation, and patient-specific priors. This protects trial integrity while maximizing scientific return.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our project to recent literature published in Circulation by Albert Rogers' group at Stanford (Ansari et al., 2026). Ansari developed 3DRECON-QT, showing that training an auxiliary 12-lead reconstruction head forces the single-lead encoder to learn 3D cardiac vector loops. In their ablation study, removing the 12-lead spatial conditioning collapsed downstream clinical biomarker prediction from r=0.73 down to 0.04. We apply this paradigm to our trial: at home, patients record daily single-lead smartwatch ECGs for our primary endpoint: time to AF recurrence. Lead I alone often misses vector components oriented perpendicular to the frontal plane. Training an auxiliary 12-lead reconstruction head helps the encoder preserve 3D atrial vector dynamics.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architecture of our champion model: conv15e_A0_wave_noSSL_gated_add. Notice the core components: 1. Patch tokenizer slicing the Lead I input into 50 ms tokens. 2. A continuous Morlet wavelet bank across 32 frequency scales from 0.5 to 45 Hz. 3. A hybrid TimeSformer and 1D-CNN backbone. 4. Our gated-add fusion module that dynamically modulates wavelet energy via a sigmoid gate. 5. An 8-layer transformer encoder. 6. An axial transformer decoder producing both continuous 12-lead waveforms and explicit fiducial delineations.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illustrates how we trained the ECG-AIM model before testing on single-lead signals. First, on the left, we ingest full 12-lead hospital records from PTB-XL and MIMIC-IV. We simulate single-lead input by masking out the other 11 leads. Second, the single-lead signal passes through our dual-branch wavelet transformer backbone to predict continuous 12-lead waveforms and P-QRS-T boundary delineations. Third, looking at the loss formulation: we supervise waveform reconstruction with a composite loss (MSE, Pearson correlation, Wyatt ST-T phase loss, and spectral loss) plus Einthoven limb consistency, alongside multi-task cross-entropy and Dice loss on delineation. Importantly, during training, the single lead is a synthetic proxy derived from hospital ECGs on supine patients. It lacks dry-electrode contact noise and wearable filtering. This gap motivates the need for our Sunnybrook paired trial data to calibrate and validate the model on clinical hardware.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benchmark across models evaluated with patient-clustered MMRM and GEE. Compared to the Stanford 3DRECON-QT model, our model achieves higher precordial chest lead correlation—0.776 vs 0.732—and a Lead V3 correlation of 0.739 vs 0.670. On echocardiographic structural heart disease in EchoNext, Ansari's model dropped to 46.5% concordance because their scalar QT loss did not constrain chamber geometry. Our wavelet-gated transformer maintains 71.6% structural concordance and tracks QRS duration with a median error of 8.0 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model evaluation under flexible lead inputs. Because we train with dynamic lead token masking, the exact same model weights accept variable combinations of leads. At home, single-lead Lead I achieves an ECGFounder Macro AUROC of 0.821 and detects AF with an AUROC of 0.952. When a patient attends clinic, adding Leads II and V2 resolves orthogonal planes without changing model weights: AF detection AUROC reaches 0.981, VT detection reaches 0.989, and QRS duration error drops to 8.12 ms. On EchoNext, the model maintains 75.4% AUROC and 81.4% LVEF concordance.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single-lead comparison between sensor modalities on unseen PTB-XL Record 10283. On the left, we input single-lead Lead I—the wrist-to-wrist vector acquired by smartwatch devices. The model infers the other 11 leads with a record mean correlation of 0.941. Notice the reconstruction of precordial chest leads: V1 is 0.995, V2 is 0.989, and V3 is 0.988. On the right, we input single-lead Lead II—the vertical vector typically captured by adhesive chest patches. Lead II achieves a record mean correlation of 0.919, with recovery of inferior leads like aVF at 0.992 and III at 0.963.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shows scaling from single-lead to 3-lead input. On the left is single-lead Lead I input with a mean correlation of 0.941. While suitable for outpatient rhythm surveillance, a single lead is mathematically limited in resolving orthogonal planes simultaneously. On the right, adding Lead II and V2 provides orthogonal axes. Einthoven completion yields 1.000 across all limb leads, and precordial chest leads reach correlations between 0.980 and 0.999, reducing QRS duration error to 8.12 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zero-shot evaluation on Sunnybrook hospital XML recordings. Record ECG004 displays clinical voltages—over 1.4 mV in Lead II and 2.1 mV in V2. On the left, using single-lead Lead I across physical hospital hardware with un-derived limb leads and natural noise, the model achieves a record mean correlation of 0.865 (Lead II at 0.925, aVR at 0.966, V5 at 0.934). On the right, with the 3-lead triad, mean correlation increases to 0.938. Limb leads reach 1.000, V1 reaches 0.973, and V6 reaches 0.957.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external validation on the Stanford EchoNext cohort of paired echocardiogram-ECG patient tracings. Examining Record 10, featuring normal voltages up to 1.40 mV in V4 and 1.15 mV in V2: On the left, 1-lead reconstruction achieves a record mean correlation of 0.809, with aVR at 0.967 and chest leads V1 and V5 at 0.942 and 0.915. On the right, adding the 3-lead triad increases mean correlation to 0.964, with limb tracking between 0.986 and 1.000, and precordial tracking reaching 0.987 on V1 and 0.965 on V6. Preserving ST-T morphology and QRS amplitude allows downstream models to achieve 81.4% concordance on reduced ejection fraction.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data collection workflow. It operates as two synchronized streams: Stream A is the ambulatory home surveillance from Protocol v1.1. Patients wear the watch daily for 6 months and wear the 14-day continuous CardioSTAT patch at 3 and 6 months. This feeds directly into our primary clinical efficacy endpoint. Stream B is the in-clinic paired protocol. Patients are already at Sunnybrook for four standard clinical visits: baseline pre-ablation, procedure day, 3 months, and 6 months. During the routine clinical 12-lead ECG, the research coordinator records a 30-second smartwatch tracing simultaneously. It adds less than 5 minutes to routine care and creates synchronized ground-truth pairs.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contrasts our prospective paired acquisition with the retrospective analysis in the Stanford paper. Ansari and Rogers searched through Medtronic CareLink transmissions, identifying 26 patients who had a clinical 12-lead within plus-or-minus 7 days. Over a week, autonomic tone, electrolytes, and medications can vary. In our trial, we acquire simultaneous pairs across 96 patients at 4 defined clinical visits. Furthermore, this cohort captures longitudinal transitions: pre-ablation AF, acute post-procedure rhythm, and 3-to-6-month follow-up. This directly addresses the gap between synthetic lead masking and physical wearable recording.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shows how the clinical trial and AI engineering integrate. Stage 1 represents foundation models pretrained on public datasets. Stage 2 represents data acquisition: smartwatch, 14-day continuous CardioSTAT patch, and hospital 12-lead machine. Stage 3 uses the paired in-clinic data to calibrate the hardware transfer function and adapt the model. Stage 4 shows the separation of endpoints: primary clinical AF surveillance vs. secondary translational 12-lead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sample size and statistical considerations. The primary clinical trial sample size of 96 patients is calculated directly from expected AF recurrence rates—20% on patch vs 25% on smartwatch with an 80% power target. For the secondary AI aim, 96 patients across multiple clinic visits provides over 2,500 paired cardiac complexes. Per Riley's 2024 BMJ guidelines, this is sufficient to bound QTc measurement error within a 3.5 ms margin of error. We specify linear mixed-effects models and generalized estimating equations to adjust for intra-patient beat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our meeting, here are the 4 decisions we need to agree on: First, confirm the two-track protocol amendment: Aim 1 primary AF recurrence, Aim 2 secondary 12-lead reconstruction. Second, approve the 5-minute simultaneous recording procedure during in-clinic visits. Third, decide which secondary clinical biomarker Chris wants to prioritize for the paired analysis—QTc interval tracking is our recommendation. Fourth, approve the 20-patient vanguard cohort. Thank you Chris and Alex; let us open the floor for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097280" y="914400"/>
            <a:ext cx="9966960" cy="50292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463040"/>
            <a:ext cx="8869680" cy="3931920"/>
          </a:xfrm>
          <a:prstGeom prst="rect">
            <a:avLst/>
          </a:prstGeom>
          <a:noFill/>
        </p:spPr>
        <p:txBody>
          <a:bodyPr wrap="square">
            <a:spAutoFit/>
          </a:bodyPr>
          <a:lstStyle/>
          <a:p>
            <a:pPr>
              <a:defRPr sz="2700" b="1">
                <a:solidFill>
                  <a:srgbClr val="1E3A8A"/>
                </a:solidFill>
                <a:latin typeface="Arial"/>
              </a:defRPr>
            </a:pPr>
            <a:r>
              <a:t>Integrating 12-Lead AI Reconstruction into the Sunnybrook Wearable AF Trial</a:t>
            </a:r>
          </a:p>
          <a:p>
            <a:pPr>
              <a:spcBef>
                <a:spcPts val="1600"/>
              </a:spcBef>
              <a:defRPr sz="1300">
                <a:solidFill>
                  <a:srgbClr val="64748B"/>
                </a:solidFill>
                <a:latin typeface="Arial"/>
              </a:defRPr>
            </a:pPr>
            <a:r>
              <a:t>Protocol Reference: Evaluation of Wearable/FitBit Monitoring to Detect Recurrent Atrial Fibrillation (v1.1)</a:t>
            </a:r>
          </a:p>
          <a:p>
            <a:pPr>
              <a:spcBef>
                <a:spcPts val="2000"/>
              </a:spcBef>
              <a:defRPr sz="1300" b="1">
                <a:solidFill>
                  <a:srgbClr val="0F172A"/>
                </a:solidFill>
                <a:latin typeface="Arial"/>
              </a:defRPr>
            </a:pPr>
            <a:r>
              <a:t>Christopher Cheung, MD, MPH  *  Alex Mariakakis, PhD  *  Mithun Manivannan, BSc</a:t>
            </a:r>
          </a:p>
          <a:p>
            <a:pPr>
              <a:spcBef>
                <a:spcPts val="600"/>
              </a:spcBef>
              <a:defRPr sz="1150">
                <a:solidFill>
                  <a:srgbClr val="64748B"/>
                </a:solidFill>
                <a:latin typeface="Arial"/>
              </a:defRPr>
            </a:pPr>
            <a:r>
              <a:t>Division of Cardiology, Sunnybrook Health Sciences Centre  *  Department of Computer Science, University of Toronto</a:t>
            </a: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Purpose of Today's Meeting</a:t>
            </a:r>
          </a:p>
          <a:p>
            <a:pPr>
              <a:defRPr sz="1300">
                <a:solidFill>
                  <a:srgbClr val="64748B"/>
                </a:solidFill>
                <a:latin typeface="Arial"/>
              </a:defRPr>
            </a:pPr>
            <a:r>
              <a:t>Protocol alignment and study integration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2 / 19</a:t>
            </a:r>
          </a:p>
        </p:txBody>
      </p:sp>
      <p:sp>
        <p:nvSpPr>
          <p:cNvPr id="5" name="Rounded Rectangle 4"/>
          <p:cNvSpPr/>
          <p:nvPr/>
        </p:nvSpPr>
        <p:spPr>
          <a:xfrm>
            <a:off x="731520" y="1645920"/>
            <a:ext cx="338328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3108960" cy="3749039"/>
          </a:xfrm>
          <a:prstGeom prst="rect">
            <a:avLst/>
          </a:prstGeom>
          <a:noFill/>
        </p:spPr>
        <p:txBody>
          <a:bodyPr wrap="square">
            <a:spAutoFit/>
          </a:bodyPr>
          <a:lstStyle/>
          <a:p>
            <a:pPr>
              <a:defRPr sz="1500" b="1">
                <a:solidFill>
                  <a:srgbClr val="1E3A8A"/>
                </a:solidFill>
              </a:defRPr>
            </a:pPr>
            <a:r>
              <a:t>Clinical Trial Foundation</a:t>
            </a:r>
          </a:p>
          <a:p>
            <a:pPr>
              <a:spcBef>
                <a:spcPts val="800"/>
              </a:spcBef>
              <a:defRPr sz="1100">
                <a:solidFill>
                  <a:srgbClr val="0F172A"/>
                </a:solidFill>
              </a:defRPr>
            </a:pPr>
            <a:r>
              <a:t>- Established protocol (Version 1.1, October 2025).</a:t>
            </a:r>
          </a:p>
          <a:p>
            <a:pPr>
              <a:spcBef>
                <a:spcPts val="800"/>
              </a:spcBef>
              <a:defRPr sz="1100">
                <a:solidFill>
                  <a:srgbClr val="0F172A"/>
                </a:solidFill>
              </a:defRPr>
            </a:pPr>
            <a:r>
              <a:t>- Target cohort: persistent AF patients undergoing catheter ablation.</a:t>
            </a:r>
          </a:p>
          <a:p>
            <a:pPr>
              <a:spcBef>
                <a:spcPts val="800"/>
              </a:spcBef>
              <a:defRPr sz="1100">
                <a:solidFill>
                  <a:srgbClr val="0F172A"/>
                </a:solidFill>
              </a:defRPr>
            </a:pPr>
            <a:r>
              <a:t>- Reference standard: 14-day continuous CardioSTAT patch at 3 and 6 months.</a:t>
            </a:r>
          </a:p>
          <a:p>
            <a:pPr>
              <a:spcBef>
                <a:spcPts val="800"/>
              </a:spcBef>
              <a:defRPr sz="1100">
                <a:solidFill>
                  <a:srgbClr val="0F172A"/>
                </a:solidFill>
              </a:defRPr>
            </a:pPr>
            <a:r>
              <a:t>- Primary clinical endpoint: time to confirmed AF recurrence.</a:t>
            </a:r>
          </a:p>
        </p:txBody>
      </p:sp>
      <p:sp>
        <p:nvSpPr>
          <p:cNvPr id="7" name="Rounded Rectangle 6"/>
          <p:cNvSpPr/>
          <p:nvPr/>
        </p:nvSpPr>
        <p:spPr>
          <a:xfrm>
            <a:off x="4389120" y="1645920"/>
            <a:ext cx="3383280" cy="41148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28800"/>
            <a:ext cx="3108960" cy="3749039"/>
          </a:xfrm>
          <a:prstGeom prst="rect">
            <a:avLst/>
          </a:prstGeom>
          <a:noFill/>
        </p:spPr>
        <p:txBody>
          <a:bodyPr wrap="square">
            <a:spAutoFit/>
          </a:bodyPr>
          <a:lstStyle/>
          <a:p>
            <a:pPr>
              <a:defRPr sz="1500" b="1">
                <a:solidFill>
                  <a:srgbClr val="0284C7"/>
                </a:solidFill>
              </a:defRPr>
            </a:pPr>
            <a:r>
              <a:t>Reconstruction Constraints</a:t>
            </a:r>
          </a:p>
          <a:p>
            <a:pPr>
              <a:spcBef>
                <a:spcPts val="800"/>
              </a:spcBef>
              <a:defRPr sz="1100">
                <a:solidFill>
                  <a:srgbClr val="0F172A"/>
                </a:solidFill>
              </a:defRPr>
            </a:pPr>
            <a:r>
              <a:t>- 12-lead reconstruction from single-lead input is underdetermined.</a:t>
            </a:r>
          </a:p>
          <a:p>
            <a:pPr>
              <a:spcBef>
                <a:spcPts val="800"/>
              </a:spcBef>
              <a:defRPr sz="1100">
                <a:solidFill>
                  <a:srgbClr val="0F172A"/>
                </a:solidFill>
              </a:defRPr>
            </a:pPr>
            <a:r>
              <a:t>- Precordial leads exhibit amplitude and morphology errors under direct projection.</a:t>
            </a:r>
          </a:p>
          <a:p>
            <a:pPr>
              <a:spcBef>
                <a:spcPts val="800"/>
              </a:spcBef>
              <a:defRPr sz="1100">
                <a:solidFill>
                  <a:srgbClr val="0F172A"/>
                </a:solidFill>
              </a:defRPr>
            </a:pPr>
            <a:r>
              <a:t>- Diagnostic reconstruction cannot serve as a primary clinical endpoint.</a:t>
            </a:r>
          </a:p>
          <a:p>
            <a:pPr>
              <a:spcBef>
                <a:spcPts val="800"/>
              </a:spcBef>
              <a:defRPr sz="1100">
                <a:solidFill>
                  <a:srgbClr val="0F172A"/>
                </a:solidFill>
              </a:defRPr>
            </a:pPr>
            <a:r>
              <a:t>- Separates clinical trial validity from exploratory AI evaluation.</a:t>
            </a:r>
          </a:p>
        </p:txBody>
      </p:sp>
      <p:sp>
        <p:nvSpPr>
          <p:cNvPr id="9" name="Rounded Rectangle 8"/>
          <p:cNvSpPr/>
          <p:nvPr/>
        </p:nvSpPr>
        <p:spPr>
          <a:xfrm>
            <a:off x="8046720" y="1645920"/>
            <a:ext cx="3383280" cy="4114800"/>
          </a:xfrm>
          <a:prstGeom prst="roundRect">
            <a:avLst/>
          </a:prstGeom>
          <a:solidFill>
            <a:srgbClr val="F8FAFC"/>
          </a:solidFill>
          <a:ln w="1905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828800"/>
            <a:ext cx="3108960" cy="3749039"/>
          </a:xfrm>
          <a:prstGeom prst="rect">
            <a:avLst/>
          </a:prstGeom>
          <a:noFill/>
        </p:spPr>
        <p:txBody>
          <a:bodyPr wrap="square">
            <a:spAutoFit/>
          </a:bodyPr>
          <a:lstStyle/>
          <a:p>
            <a:pPr>
              <a:defRPr sz="1500" b="1">
                <a:solidFill>
                  <a:srgbClr val="15803D"/>
                </a:solidFill>
              </a:defRPr>
            </a:pPr>
            <a:r>
              <a:t>Translational Integration</a:t>
            </a:r>
          </a:p>
          <a:p>
            <a:pPr>
              <a:spcBef>
                <a:spcPts val="800"/>
              </a:spcBef>
              <a:defRPr sz="1100">
                <a:solidFill>
                  <a:srgbClr val="0F172A"/>
                </a:solidFill>
              </a:defRPr>
            </a:pPr>
            <a:r>
              <a:t>- Routine outpatient visits already include scheduled 12-lead ECGs.</a:t>
            </a:r>
          </a:p>
          <a:p>
            <a:pPr>
              <a:spcBef>
                <a:spcPts val="800"/>
              </a:spcBef>
              <a:defRPr sz="1100">
                <a:solidFill>
                  <a:srgbClr val="0F172A"/>
                </a:solidFill>
              </a:defRPr>
            </a:pPr>
            <a:r>
              <a:t>- Synchronous smartwatch and 12-lead acquisition adds &lt;= 5 minutes.</a:t>
            </a:r>
          </a:p>
          <a:p>
            <a:pPr>
              <a:spcBef>
                <a:spcPts val="800"/>
              </a:spcBef>
              <a:defRPr sz="1100">
                <a:solidFill>
                  <a:srgbClr val="0F172A"/>
                </a:solidFill>
              </a:defRPr>
            </a:pPr>
            <a:r>
              <a:t>- Evaluates reconstruction and biomarker recovery as a secondary aim.</a:t>
            </a:r>
          </a:p>
          <a:p>
            <a:pPr>
              <a:spcBef>
                <a:spcPts val="800"/>
              </a:spcBef>
              <a:defRPr sz="1100">
                <a:solidFill>
                  <a:srgbClr val="0F172A"/>
                </a:solidFill>
              </a:defRPr>
            </a:pPr>
            <a:r>
              <a:t>- Generates a prospectively paired clinical and wearable dataset.</a:t>
            </a:r>
          </a:p>
        </p:txBody>
      </p:sp>
      <p:sp>
        <p:nvSpPr>
          <p:cNvPr id="11" name="TextBox 10"/>
          <p:cNvSpPr txBox="1"/>
          <p:nvPr/>
        </p:nvSpPr>
        <p:spPr>
          <a:xfrm>
            <a:off x="731520" y="5897880"/>
            <a:ext cx="10698480" cy="365760"/>
          </a:xfrm>
          <a:prstGeom prst="rect">
            <a:avLst/>
          </a:prstGeom>
          <a:noFill/>
        </p:spPr>
        <p:txBody>
          <a:bodyPr wrap="none">
            <a:spAutoFit/>
          </a:bodyPr>
          <a:lstStyle/>
          <a:p>
            <a:pPr algn="ctr">
              <a:defRPr sz="1150" b="1">
                <a:solidFill>
                  <a:srgbClr val="1E3A8A"/>
                </a:solidFill>
              </a:defRPr>
            </a:pPr>
            <a:r>
              <a:t>Objective: Align on the secondary data collection protocol and freeze translational evaluation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The Established Clinical Protocol (v1.1)</a:t>
            </a:r>
          </a:p>
          <a:p>
            <a:pPr>
              <a:defRPr sz="1300">
                <a:solidFill>
                  <a:srgbClr val="64748B"/>
                </a:solidFill>
                <a:latin typeface="Arial"/>
              </a:defRPr>
            </a:pPr>
            <a:r>
              <a:t>Protocol v1.1 design and endpoints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3 / 19</a:t>
            </a:r>
          </a:p>
        </p:txBody>
      </p:sp>
      <p:sp>
        <p:nvSpPr>
          <p:cNvPr id="5" name="Rounded Rectangle 4"/>
          <p:cNvSpPr/>
          <p:nvPr/>
        </p:nvSpPr>
        <p:spPr>
          <a:xfrm>
            <a:off x="731520" y="1645920"/>
            <a:ext cx="521208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3749039"/>
          </a:xfrm>
          <a:prstGeom prst="rect">
            <a:avLst/>
          </a:prstGeom>
          <a:noFill/>
        </p:spPr>
        <p:txBody>
          <a:bodyPr wrap="square">
            <a:spAutoFit/>
          </a:bodyPr>
          <a:lstStyle/>
          <a:p>
            <a:pPr>
              <a:defRPr sz="1600" b="1">
                <a:solidFill>
                  <a:srgbClr val="1E3A8A"/>
                </a:solidFill>
              </a:defRPr>
            </a:pPr>
            <a:r>
              <a:t>Trial Design &amp; Patient Population</a:t>
            </a:r>
          </a:p>
          <a:p>
            <a:pPr>
              <a:spcBef>
                <a:spcPts val="800"/>
              </a:spcBef>
              <a:defRPr sz="1200">
                <a:solidFill>
                  <a:srgbClr val="0F172A"/>
                </a:solidFill>
              </a:defRPr>
            </a:pPr>
            <a:r>
              <a:t>- Single-center prospective cohort at Sunnybrook Arrhythmia Clinic.</a:t>
            </a:r>
          </a:p>
          <a:p>
            <a:pPr>
              <a:spcBef>
                <a:spcPts val="800"/>
              </a:spcBef>
              <a:defRPr sz="1200">
                <a:solidFill>
                  <a:srgbClr val="0F172A"/>
                </a:solidFill>
              </a:defRPr>
            </a:pPr>
            <a:r>
              <a:t>- Patients aged &gt;= 18 with persistent AF undergoing catheter ablation or cardioversion.</a:t>
            </a:r>
          </a:p>
          <a:p>
            <a:pPr>
              <a:spcBef>
                <a:spcPts val="800"/>
              </a:spcBef>
              <a:defRPr sz="1200">
                <a:solidFill>
                  <a:srgbClr val="0F172A"/>
                </a:solidFill>
              </a:defRPr>
            </a:pPr>
            <a:r>
              <a:t>- Smartwatch monitoring: daily 30-second ECG and automated rhythm notifications for 6 months.</a:t>
            </a:r>
          </a:p>
          <a:p>
            <a:pPr>
              <a:spcBef>
                <a:spcPts val="800"/>
              </a:spcBef>
              <a:defRPr sz="1200">
                <a:solidFill>
                  <a:srgbClr val="0F172A"/>
                </a:solidFill>
              </a:defRPr>
            </a:pPr>
            <a:r>
              <a:t>- Reference standard: 14-day continuous CardioSTAT patch at 3 and 6 months post-procedure.</a:t>
            </a:r>
          </a:p>
        </p:txBody>
      </p:sp>
      <p:sp>
        <p:nvSpPr>
          <p:cNvPr id="7" name="Rounded Rectangle 6"/>
          <p:cNvSpPr/>
          <p:nvPr/>
        </p:nvSpPr>
        <p:spPr>
          <a:xfrm>
            <a:off x="6217920" y="1645920"/>
            <a:ext cx="5212080" cy="41148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3749039"/>
          </a:xfrm>
          <a:prstGeom prst="rect">
            <a:avLst/>
          </a:prstGeom>
          <a:noFill/>
        </p:spPr>
        <p:txBody>
          <a:bodyPr wrap="square">
            <a:spAutoFit/>
          </a:bodyPr>
          <a:lstStyle/>
          <a:p>
            <a:pPr>
              <a:defRPr sz="1600" b="1">
                <a:solidFill>
                  <a:srgbClr val="0284C7"/>
                </a:solidFill>
              </a:defRPr>
            </a:pPr>
            <a:r>
              <a:t>Endpoints &amp; Sample Size</a:t>
            </a:r>
          </a:p>
          <a:p>
            <a:pPr>
              <a:spcBef>
                <a:spcPts val="800"/>
              </a:spcBef>
              <a:defRPr sz="1200">
                <a:solidFill>
                  <a:srgbClr val="0F172A"/>
                </a:solidFill>
              </a:defRPr>
            </a:pPr>
            <a:r>
              <a:t>- Primary outcome: time to recurrent AF detection (smartwatch vs. patch).</a:t>
            </a:r>
          </a:p>
          <a:p>
            <a:pPr>
              <a:spcBef>
                <a:spcPts val="800"/>
              </a:spcBef>
              <a:defRPr sz="1200">
                <a:solidFill>
                  <a:srgbClr val="0F172A"/>
                </a:solidFill>
              </a:defRPr>
            </a:pPr>
            <a:r>
              <a:t>- Secondary clinical outcomes: heart rate trends, heart rate variability, and cumulative AF burden.</a:t>
            </a:r>
          </a:p>
          <a:p>
            <a:pPr>
              <a:spcBef>
                <a:spcPts val="800"/>
              </a:spcBef>
              <a:defRPr sz="1200">
                <a:solidFill>
                  <a:srgbClr val="0F172A"/>
                </a:solidFill>
              </a:defRPr>
            </a:pPr>
            <a:r>
              <a:t>- Sample size: N = 96 patients (80% power, alpha = 0.05, 10% non-inferiority margin).</a:t>
            </a:r>
          </a:p>
          <a:p>
            <a:pPr>
              <a:spcBef>
                <a:spcPts val="800"/>
              </a:spcBef>
              <a:defRPr sz="1200">
                <a:solidFill>
                  <a:srgbClr val="0F172A"/>
                </a:solidFill>
              </a:defRPr>
            </a:pPr>
            <a:r>
              <a:t>- Vanguard phase: initial 20 consecutive patients to assess protocol adherence and data pipeline.</a:t>
            </a:r>
          </a:p>
        </p:txBody>
      </p:sp>
      <p:sp>
        <p:nvSpPr>
          <p:cNvPr id="9" name="TextBox 8"/>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Primary trial endpoints and clinical workflows remain unchanged under this proposal.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Why Reconstruction Cannot Be the Primary Endpoint</a:t>
            </a:r>
          </a:p>
          <a:p>
            <a:pPr>
              <a:defRPr sz="1300">
                <a:solidFill>
                  <a:srgbClr val="64748B"/>
                </a:solidFill>
                <a:latin typeface="Arial"/>
              </a:defRPr>
            </a:pPr>
            <a:r>
              <a:t>Methodological constraints of single-lead reconstruction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4 / 19</a:t>
            </a:r>
          </a:p>
        </p:txBody>
      </p:sp>
      <p:graphicFrame>
        <p:nvGraphicFramePr>
          <p:cNvPr id="5" name="Table 4"/>
          <p:cNvGraphicFramePr>
            <a:graphicFrameLocks noGrp="1"/>
          </p:cNvGraphicFramePr>
          <p:nvPr/>
        </p:nvGraphicFramePr>
        <p:xfrm>
          <a:off x="731520" y="1645920"/>
          <a:ext cx="10698480" cy="3474720"/>
        </p:xfrm>
        <a:graphic>
          <a:graphicData uri="http://schemas.openxmlformats.org/drawingml/2006/table">
            <a:tbl>
              <a:tblPr firstRow="1" bandRow="1">
                <a:tableStyleId>{5C22544A-7EE6-4342-B048-85BDC9FD1C3A}</a:tableStyleId>
              </a:tblPr>
              <a:tblGrid>
                <a:gridCol w="2468880"/>
                <a:gridCol w="4114800"/>
                <a:gridCol w="4114800"/>
              </a:tblGrid>
              <a:tr h="579120">
                <a:tc>
                  <a:txBody>
                    <a:bodyPr/>
                    <a:lstStyle/>
                    <a:p>
                      <a:pPr>
                        <a:defRPr sz="1100" b="1">
                          <a:solidFill>
                            <a:srgbClr val="FFFFFF"/>
                          </a:solidFill>
                          <a:latin typeface="Arial"/>
                        </a:defRPr>
                      </a:pPr>
                      <a:r>
                        <a:t>Evaluation Dimension</a:t>
                      </a:r>
                    </a:p>
                  </a:txBody>
                  <a:tcPr>
                    <a:solidFill>
                      <a:srgbClr val="1E3A8A"/>
                    </a:solidFill>
                  </a:tcPr>
                </a:tc>
                <a:tc>
                  <a:txBody>
                    <a:bodyPr/>
                    <a:lstStyle/>
                    <a:p>
                      <a:pPr>
                        <a:defRPr sz="1100" b="1">
                          <a:solidFill>
                            <a:srgbClr val="FFFFFF"/>
                          </a:solidFill>
                          <a:latin typeface="Arial"/>
                        </a:defRPr>
                      </a:pPr>
                      <a:r>
                        <a:t>Primary Clinical Trial Standard</a:t>
                      </a:r>
                    </a:p>
                  </a:txBody>
                  <a:tcPr>
                    <a:solidFill>
                      <a:srgbClr val="1E3A8A"/>
                    </a:solidFill>
                  </a:tcPr>
                </a:tc>
                <a:tc>
                  <a:txBody>
                    <a:bodyPr/>
                    <a:lstStyle/>
                    <a:p>
                      <a:pPr>
                        <a:defRPr sz="1100" b="1">
                          <a:solidFill>
                            <a:srgbClr val="FFFFFF"/>
                          </a:solidFill>
                          <a:latin typeface="Arial"/>
                        </a:defRPr>
                      </a:pPr>
                      <a:r>
                        <a:t>Single-Lead 12-Lead Reconstruction</a:t>
                      </a:r>
                    </a:p>
                  </a:txBody>
                  <a:tcPr>
                    <a:solidFill>
                      <a:srgbClr val="1E3A8A"/>
                    </a:solidFill>
                  </a:tcPr>
                </a:tc>
              </a:tr>
              <a:tr h="579120">
                <a:tc>
                  <a:txBody>
                    <a:bodyPr/>
                    <a:lstStyle/>
                    <a:p>
                      <a:pPr>
                        <a:defRPr sz="1100" b="1">
                          <a:solidFill>
                            <a:srgbClr val="0F172A"/>
                          </a:solidFill>
                          <a:latin typeface="Arial"/>
                        </a:defRPr>
                      </a:pPr>
                      <a:r>
                        <a:t>Mathematical Problem</a:t>
                      </a:r>
                    </a:p>
                  </a:txBody>
                  <a:tcPr>
                    <a:solidFill>
                      <a:srgbClr val="F8FAFC"/>
                    </a:solidFill>
                  </a:tcPr>
                </a:tc>
                <a:tc>
                  <a:txBody>
                    <a:bodyPr/>
                    <a:lstStyle/>
                    <a:p>
                      <a:pPr>
                        <a:defRPr sz="1100">
                          <a:solidFill>
                            <a:srgbClr val="0F172A"/>
                          </a:solidFill>
                          <a:latin typeface="Arial"/>
                        </a:defRPr>
                      </a:pPr>
                      <a:r>
                        <a:t>Time-to-event survival analysis</a:t>
                      </a:r>
                    </a:p>
                  </a:txBody>
                  <a:tcPr>
                    <a:solidFill>
                      <a:srgbClr val="F8FAFC"/>
                    </a:solidFill>
                  </a:tcPr>
                </a:tc>
                <a:tc>
                  <a:txBody>
                    <a:bodyPr/>
                    <a:lstStyle/>
                    <a:p>
                      <a:pPr>
                        <a:defRPr sz="1100">
                          <a:solidFill>
                            <a:srgbClr val="0F172A"/>
                          </a:solidFill>
                          <a:latin typeface="Arial"/>
                        </a:defRPr>
                      </a:pPr>
                      <a:r>
                        <a:t>Underdetermined inverse problem (1 -&gt; 12 projection)</a:t>
                      </a:r>
                    </a:p>
                  </a:txBody>
                  <a:tcPr>
                    <a:solidFill>
                      <a:srgbClr val="F8FAFC"/>
                    </a:solidFill>
                  </a:tcPr>
                </a:tc>
              </a:tr>
              <a:tr h="579120">
                <a:tc>
                  <a:txBody>
                    <a:bodyPr/>
                    <a:lstStyle/>
                    <a:p>
                      <a:pPr>
                        <a:defRPr sz="1100" b="1">
                          <a:solidFill>
                            <a:srgbClr val="0F172A"/>
                          </a:solidFill>
                          <a:latin typeface="Arial"/>
                        </a:defRPr>
                      </a:pPr>
                      <a:r>
                        <a:t>Empirical Performance</a:t>
                      </a:r>
                    </a:p>
                  </a:txBody>
                  <a:tcPr>
                    <a:solidFill>
                      <a:srgbClr val="FFFFFF"/>
                    </a:solidFill>
                  </a:tcPr>
                </a:tc>
                <a:tc>
                  <a:txBody>
                    <a:bodyPr/>
                    <a:lstStyle/>
                    <a:p>
                      <a:pPr>
                        <a:defRPr sz="1100">
                          <a:solidFill>
                            <a:srgbClr val="0F172A"/>
                          </a:solidFill>
                          <a:latin typeface="Arial"/>
                        </a:defRPr>
                      </a:pPr>
                      <a:r>
                        <a:t>Wearable AF sensitivity ~ 94% (Abu-Alrub 2022)</a:t>
                      </a:r>
                    </a:p>
                  </a:txBody>
                  <a:tcPr>
                    <a:solidFill>
                      <a:srgbClr val="FFFFFF"/>
                    </a:solidFill>
                  </a:tcPr>
                </a:tc>
                <a:tc>
                  <a:txBody>
                    <a:bodyPr/>
                    <a:lstStyle/>
                    <a:p>
                      <a:pPr>
                        <a:defRPr sz="1100">
                          <a:solidFill>
                            <a:srgbClr val="0F172A"/>
                          </a:solidFill>
                          <a:latin typeface="Arial"/>
                        </a:defRPr>
                      </a:pPr>
                      <a:r>
                        <a:t>Precordial leads (V2-V4) exhibit variance loss (r ~ 0.74, MAE ~ 0.13 mV)</a:t>
                      </a:r>
                    </a:p>
                  </a:txBody>
                  <a:tcPr>
                    <a:solidFill>
                      <a:srgbClr val="FFFFFF"/>
                    </a:solidFill>
                  </a:tcPr>
                </a:tc>
              </a:tr>
              <a:tr h="579120">
                <a:tc>
                  <a:txBody>
                    <a:bodyPr/>
                    <a:lstStyle/>
                    <a:p>
                      <a:pPr>
                        <a:defRPr sz="1100" b="1">
                          <a:solidFill>
                            <a:srgbClr val="0F172A"/>
                          </a:solidFill>
                          <a:latin typeface="Arial"/>
                        </a:defRPr>
                      </a:pPr>
                      <a:r>
                        <a:t>Reported Literature</a:t>
                      </a:r>
                    </a:p>
                  </a:txBody>
                  <a:tcPr>
                    <a:solidFill>
                      <a:srgbClr val="F8FAFC"/>
                    </a:solidFill>
                  </a:tcPr>
                </a:tc>
                <a:tc>
                  <a:txBody>
                    <a:bodyPr/>
                    <a:lstStyle/>
                    <a:p>
                      <a:pPr>
                        <a:defRPr sz="1100">
                          <a:solidFill>
                            <a:srgbClr val="0F172A"/>
                          </a:solidFill>
                          <a:latin typeface="Arial"/>
                        </a:defRPr>
                      </a:pPr>
                      <a:r>
                        <a:t>Guideline-endorsed recurrence metrics (2024 EHRA/HRS)</a:t>
                      </a:r>
                    </a:p>
                  </a:txBody>
                  <a:tcPr>
                    <a:solidFill>
                      <a:srgbClr val="F8FAFC"/>
                    </a:solidFill>
                  </a:tcPr>
                </a:tc>
                <a:tc>
                  <a:txBody>
                    <a:bodyPr/>
                    <a:lstStyle/>
                    <a:p>
                      <a:pPr>
                        <a:defRPr sz="1100">
                          <a:solidFill>
                            <a:srgbClr val="0F172A"/>
                          </a:solidFill>
                          <a:latin typeface="Arial"/>
                        </a:defRPr>
                      </a:pPr>
                      <a:r>
                        <a:t>Presacan et al. (2025): amplitude compression and regression to mean</a:t>
                      </a:r>
                    </a:p>
                  </a:txBody>
                  <a:tcPr>
                    <a:solidFill>
                      <a:srgbClr val="F8FAFC"/>
                    </a:solidFill>
                  </a:tcPr>
                </a:tc>
              </a:tr>
              <a:tr h="579120">
                <a:tc>
                  <a:txBody>
                    <a:bodyPr/>
                    <a:lstStyle/>
                    <a:p>
                      <a:pPr>
                        <a:defRPr sz="1100" b="1">
                          <a:solidFill>
                            <a:srgbClr val="0F172A"/>
                          </a:solidFill>
                          <a:latin typeface="Arial"/>
                        </a:defRPr>
                      </a:pPr>
                      <a:r>
                        <a:t>Hardware Domain Gap</a:t>
                      </a:r>
                    </a:p>
                  </a:txBody>
                  <a:tcPr>
                    <a:solidFill>
                      <a:srgbClr val="FFFFFF"/>
                    </a:solidFill>
                  </a:tcPr>
                </a:tc>
                <a:tc>
                  <a:txBody>
                    <a:bodyPr/>
                    <a:lstStyle/>
                    <a:p>
                      <a:pPr>
                        <a:defRPr sz="1100">
                          <a:solidFill>
                            <a:srgbClr val="0F172A"/>
                          </a:solidFill>
                          <a:latin typeface="Arial"/>
                        </a:defRPr>
                      </a:pPr>
                      <a:r>
                        <a:t>Verified against 14-day CardioSTAT patch</a:t>
                      </a:r>
                    </a:p>
                  </a:txBody>
                  <a:tcPr>
                    <a:solidFill>
                      <a:srgbClr val="FFFFFF"/>
                    </a:solidFill>
                  </a:tcPr>
                </a:tc>
                <a:tc>
                  <a:txBody>
                    <a:bodyPr/>
                    <a:lstStyle/>
                    <a:p>
                      <a:pPr>
                        <a:defRPr sz="1100">
                          <a:solidFill>
                            <a:srgbClr val="0F172A"/>
                          </a:solidFill>
                          <a:latin typeface="Arial"/>
                        </a:defRPr>
                      </a:pPr>
                      <a:r>
                        <a:t>Hu et al. (2026): hospital limb leads differ from dry-electrode wrist signals</a:t>
                      </a:r>
                    </a:p>
                  </a:txBody>
                  <a:tcPr>
                    <a:solidFill>
                      <a:srgbClr val="FFFFFF"/>
                    </a:solidFill>
                  </a:tcPr>
                </a:tc>
              </a:tr>
              <a:tr h="579120">
                <a:tc>
                  <a:txBody>
                    <a:bodyPr/>
                    <a:lstStyle/>
                    <a:p>
                      <a:pPr>
                        <a:defRPr sz="1100" b="1">
                          <a:solidFill>
                            <a:srgbClr val="0F172A"/>
                          </a:solidFill>
                          <a:latin typeface="Arial"/>
                        </a:defRPr>
                      </a:pPr>
                      <a:r>
                        <a:t>Trial Execution Risk</a:t>
                      </a:r>
                    </a:p>
                  </a:txBody>
                  <a:tcPr>
                    <a:solidFill>
                      <a:srgbClr val="F8FAFC"/>
                    </a:solidFill>
                  </a:tcPr>
                </a:tc>
                <a:tc>
                  <a:txBody>
                    <a:bodyPr/>
                    <a:lstStyle/>
                    <a:p>
                      <a:pPr>
                        <a:defRPr sz="1100">
                          <a:solidFill>
                            <a:srgbClr val="0F172A"/>
                          </a:solidFill>
                          <a:latin typeface="Arial"/>
                        </a:defRPr>
                      </a:pPr>
                      <a:r>
                        <a:t>Low: clinical utility evaluable independently</a:t>
                      </a:r>
                    </a:p>
                  </a:txBody>
                  <a:tcPr>
                    <a:solidFill>
                      <a:srgbClr val="F8FAFC"/>
                    </a:solidFill>
                  </a:tcPr>
                </a:tc>
                <a:tc>
                  <a:txBody>
                    <a:bodyPr/>
                    <a:lstStyle/>
                    <a:p>
                      <a:pPr>
                        <a:defRPr sz="1100">
                          <a:solidFill>
                            <a:srgbClr val="0F172A"/>
                          </a:solidFill>
                          <a:latin typeface="Arial"/>
                        </a:defRPr>
                      </a:pPr>
                      <a:r>
                        <a:t>High: staking trial success on 12-lead fidelity introduces regulatory risk</a:t>
                      </a:r>
                    </a:p>
                  </a:txBody>
                  <a:tcPr>
                    <a:solidFill>
                      <a:srgbClr val="F8FAFC"/>
                    </a:solidFill>
                  </a:tcPr>
                </a:tc>
              </a:tr>
            </a:tbl>
          </a:graphicData>
        </a:graphic>
      </p:graphicFrame>
      <p:sp>
        <p:nvSpPr>
          <p:cNvPr id="6" name="Rounded Rectangle 5"/>
          <p:cNvSpPr/>
          <p:nvPr/>
        </p:nvSpPr>
        <p:spPr>
          <a:xfrm>
            <a:off x="731520" y="5303520"/>
            <a:ext cx="10698480" cy="9144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94960"/>
            <a:ext cx="10332720" cy="731520"/>
          </a:xfrm>
          <a:prstGeom prst="rect">
            <a:avLst/>
          </a:prstGeom>
          <a:noFill/>
        </p:spPr>
        <p:txBody>
          <a:bodyPr wrap="none">
            <a:spAutoFit/>
          </a:bodyPr>
          <a:lstStyle/>
          <a:p>
            <a:pPr>
              <a:defRPr sz="1150" b="1">
                <a:solidFill>
                  <a:srgbClr val="B91C1C"/>
                </a:solidFill>
              </a:defRPr>
            </a:pPr>
            <a:r>
              <a:t>Methodological Summary: Single-lead reconstruction does not replace diagnostic 12-lead acquisition. Framing reconstruction as a primary endpoint introduces substantial clinical and regulatory risk, whereas a secondary translational aim leverages paired data without impacting trial governance.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The Clean Integration: A Rigorous Two-Track Protocol</a:t>
            </a:r>
          </a:p>
          <a:p>
            <a:pPr>
              <a:defRPr sz="1300">
                <a:solidFill>
                  <a:srgbClr val="64748B"/>
                </a:solidFill>
                <a:latin typeface="Arial"/>
              </a:defRPr>
            </a:pPr>
            <a:r>
              <a:t>Separation of primary clinical and secondary AI aims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5 / 19</a:t>
            </a:r>
          </a:p>
        </p:txBody>
      </p:sp>
      <p:sp>
        <p:nvSpPr>
          <p:cNvPr id="5" name="Rounded Rectangle 4"/>
          <p:cNvSpPr/>
          <p:nvPr/>
        </p:nvSpPr>
        <p:spPr>
          <a:xfrm>
            <a:off x="731520" y="1645920"/>
            <a:ext cx="5212080" cy="4114800"/>
          </a:xfrm>
          <a:prstGeom prst="roundRect">
            <a:avLst/>
          </a:prstGeom>
          <a:solidFill>
            <a:srgbClr val="F8FAFC"/>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3749039"/>
          </a:xfrm>
          <a:prstGeom prst="rect">
            <a:avLst/>
          </a:prstGeom>
          <a:noFill/>
        </p:spPr>
        <p:txBody>
          <a:bodyPr wrap="square">
            <a:spAutoFit/>
          </a:bodyPr>
          <a:lstStyle/>
          <a:p>
            <a:pPr>
              <a:defRPr sz="1600" b="1">
                <a:solidFill>
                  <a:srgbClr val="1E3A8A"/>
                </a:solidFill>
              </a:defRPr>
            </a:pPr>
            <a:r>
              <a:t>Track 1: Primary Clinical Evaluation (Aim 1)</a:t>
            </a:r>
          </a:p>
          <a:p>
            <a:pPr>
              <a:spcBef>
                <a:spcPts val="800"/>
              </a:spcBef>
              <a:defRPr sz="1200">
                <a:solidFill>
                  <a:srgbClr val="0F172A"/>
                </a:solidFill>
              </a:defRPr>
            </a:pPr>
            <a:r>
              <a:t>- Evaluates whether smartwatch monitoring improves time to detection of recurrent AF.</a:t>
            </a:r>
          </a:p>
          <a:p>
            <a:pPr>
              <a:spcBef>
                <a:spcPts val="800"/>
              </a:spcBef>
              <a:defRPr sz="1200">
                <a:solidFill>
                  <a:srgbClr val="0F172A"/>
                </a:solidFill>
              </a:defRPr>
            </a:pPr>
            <a:r>
              <a:t>- Reference standard: 14-day CardioSTAT patch at 3 and 6 months (iCentia analysis).</a:t>
            </a:r>
          </a:p>
          <a:p>
            <a:pPr>
              <a:spcBef>
                <a:spcPts val="800"/>
              </a:spcBef>
              <a:defRPr sz="1200">
                <a:solidFill>
                  <a:srgbClr val="0F172A"/>
                </a:solidFill>
              </a:defRPr>
            </a:pPr>
            <a:r>
              <a:t>- Sized for AF recurrence detection sensitivity and non-inferiority (N = 96).</a:t>
            </a:r>
          </a:p>
          <a:p>
            <a:pPr>
              <a:spcBef>
                <a:spcPts val="800"/>
              </a:spcBef>
              <a:defRPr sz="1200">
                <a:solidFill>
                  <a:srgbClr val="0F172A"/>
                </a:solidFill>
              </a:defRPr>
            </a:pPr>
            <a:r>
              <a:t>- Inviolable primary endpoint governing trial reporting.</a:t>
            </a:r>
          </a:p>
        </p:txBody>
      </p:sp>
      <p:sp>
        <p:nvSpPr>
          <p:cNvPr id="7" name="Rounded Rectangle 6"/>
          <p:cNvSpPr/>
          <p:nvPr/>
        </p:nvSpPr>
        <p:spPr>
          <a:xfrm>
            <a:off x="6217920" y="1645920"/>
            <a:ext cx="5212080" cy="4114800"/>
          </a:xfrm>
          <a:prstGeom prst="roundRect">
            <a:avLst/>
          </a:prstGeom>
          <a:solidFill>
            <a:srgbClr val="F8FAFC"/>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3749039"/>
          </a:xfrm>
          <a:prstGeom prst="rect">
            <a:avLst/>
          </a:prstGeom>
          <a:noFill/>
        </p:spPr>
        <p:txBody>
          <a:bodyPr wrap="square">
            <a:spAutoFit/>
          </a:bodyPr>
          <a:lstStyle/>
          <a:p>
            <a:pPr>
              <a:defRPr sz="1600" b="1">
                <a:solidFill>
                  <a:srgbClr val="0284C7"/>
                </a:solidFill>
              </a:defRPr>
            </a:pPr>
            <a:r>
              <a:t>Track 2: Secondary Translational AI (Aims 2 &amp; 3)</a:t>
            </a:r>
          </a:p>
          <a:p>
            <a:pPr>
              <a:spcBef>
                <a:spcPts val="800"/>
              </a:spcBef>
              <a:defRPr sz="1200">
                <a:solidFill>
                  <a:srgbClr val="0F172A"/>
                </a:solidFill>
              </a:defRPr>
            </a:pPr>
            <a:r>
              <a:t>- Aim 2: Benchmark 12-lead waveform recovery from wrist signals using paired clinic data.</a:t>
            </a:r>
          </a:p>
          <a:p>
            <a:pPr>
              <a:spcBef>
                <a:spcPts val="800"/>
              </a:spcBef>
              <a:defRPr sz="1200">
                <a:solidFill>
                  <a:srgbClr val="0F172A"/>
                </a:solidFill>
              </a:defRPr>
            </a:pPr>
            <a:r>
              <a:t>- Aim 3: Evaluate within-patient repolarization tracking (delta QTc) using baseline priors.</a:t>
            </a:r>
          </a:p>
          <a:p>
            <a:pPr>
              <a:spcBef>
                <a:spcPts val="800"/>
              </a:spcBef>
              <a:defRPr sz="1200">
                <a:solidFill>
                  <a:srgbClr val="0F172A"/>
                </a:solidFill>
              </a:defRPr>
            </a:pPr>
            <a:r>
              <a:t>- Secondary, exploratory endpoints with no effect on primary trial conclusions.</a:t>
            </a:r>
          </a:p>
          <a:p>
            <a:pPr>
              <a:spcBef>
                <a:spcPts val="800"/>
              </a:spcBef>
              <a:defRPr sz="1200">
                <a:solidFill>
                  <a:srgbClr val="0F172A"/>
                </a:solidFill>
              </a:defRPr>
            </a:pPr>
            <a:r>
              <a:t>- Independent computational and methodological analyses.</a:t>
            </a:r>
          </a:p>
        </p:txBody>
      </p:sp>
      <p:sp>
        <p:nvSpPr>
          <p:cNvPr id="9" name="TextBox 8"/>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Preserves primary clinical endpoints while establishing a prospectively paired validation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Multitask Auxiliary Supervision (Ansari et al., 2026)</a:t>
            </a:r>
          </a:p>
          <a:p>
            <a:pPr>
              <a:defRPr sz="1300">
                <a:solidFill>
                  <a:srgbClr val="64748B"/>
                </a:solidFill>
                <a:latin typeface="Arial"/>
              </a:defRPr>
            </a:pPr>
            <a:r>
              <a:t>Spatial representation learning for single-lead models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6 / 19</a:t>
            </a:r>
          </a:p>
        </p:txBody>
      </p:sp>
      <p:sp>
        <p:nvSpPr>
          <p:cNvPr id="5" name="Rounded Rectangle 4"/>
          <p:cNvSpPr/>
          <p:nvPr/>
        </p:nvSpPr>
        <p:spPr>
          <a:xfrm>
            <a:off x="731520" y="1645920"/>
            <a:ext cx="521208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3749039"/>
          </a:xfrm>
          <a:prstGeom prst="rect">
            <a:avLst/>
          </a:prstGeom>
          <a:noFill/>
        </p:spPr>
        <p:txBody>
          <a:bodyPr wrap="square">
            <a:spAutoFit/>
          </a:bodyPr>
          <a:lstStyle/>
          <a:p>
            <a:pPr>
              <a:defRPr sz="1600" b="1">
                <a:solidFill>
                  <a:srgbClr val="1E3A8A"/>
                </a:solidFill>
              </a:defRPr>
            </a:pPr>
            <a:r>
              <a:t>Stanford 3DRECON-QT Framework</a:t>
            </a:r>
          </a:p>
          <a:p>
            <a:pPr>
              <a:spcBef>
                <a:spcPts val="800"/>
              </a:spcBef>
              <a:defRPr sz="1200">
                <a:solidFill>
                  <a:srgbClr val="0F172A"/>
                </a:solidFill>
              </a:defRPr>
            </a:pPr>
            <a:r>
              <a:t>- Reference: Ansari, Rogers et al., Circulation (January 2026).</a:t>
            </a:r>
          </a:p>
          <a:p>
            <a:pPr>
              <a:spcBef>
                <a:spcPts val="800"/>
              </a:spcBef>
              <a:defRPr sz="1200">
                <a:solidFill>
                  <a:srgbClr val="0F172A"/>
                </a:solidFill>
              </a:defRPr>
            </a:pPr>
            <a:r>
              <a:t>- Multitask objective: simultaneously reconstruct 12 leads and estimate clinical biomarkers.</a:t>
            </a:r>
          </a:p>
          <a:p>
            <a:pPr>
              <a:spcBef>
                <a:spcPts val="800"/>
              </a:spcBef>
              <a:defRPr sz="1200">
                <a:solidFill>
                  <a:srgbClr val="0F172A"/>
                </a:solidFill>
              </a:defRPr>
            </a:pPr>
            <a:r>
              <a:t>- Auxiliary 12-lead loss enforces 3D cardiac vector representations in the encoder.</a:t>
            </a:r>
          </a:p>
          <a:p>
            <a:pPr>
              <a:spcBef>
                <a:spcPts val="800"/>
              </a:spcBef>
              <a:defRPr sz="1200">
                <a:solidFill>
                  <a:srgbClr val="0F172A"/>
                </a:solidFill>
              </a:defRPr>
            </a:pPr>
            <a:r>
              <a:t>- Removing spatial supervision reduced downstream biomarker correlation from r = 0.73 to 0.04.</a:t>
            </a:r>
          </a:p>
        </p:txBody>
      </p:sp>
      <p:sp>
        <p:nvSpPr>
          <p:cNvPr id="7" name="Rounded Rectangle 6"/>
          <p:cNvSpPr/>
          <p:nvPr/>
        </p:nvSpPr>
        <p:spPr>
          <a:xfrm>
            <a:off x="6217920" y="1645920"/>
            <a:ext cx="5212080" cy="41148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3749039"/>
          </a:xfrm>
          <a:prstGeom prst="rect">
            <a:avLst/>
          </a:prstGeom>
          <a:noFill/>
        </p:spPr>
        <p:txBody>
          <a:bodyPr wrap="square">
            <a:spAutoFit/>
          </a:bodyPr>
          <a:lstStyle/>
          <a:p>
            <a:pPr>
              <a:defRPr sz="1600" b="1">
                <a:solidFill>
                  <a:srgbClr val="0284C7"/>
                </a:solidFill>
              </a:defRPr>
            </a:pPr>
            <a:r>
              <a:t>Application to Single-Lead AF Surveillance</a:t>
            </a:r>
          </a:p>
          <a:p>
            <a:pPr>
              <a:spcBef>
                <a:spcPts val="800"/>
              </a:spcBef>
              <a:defRPr sz="1200">
                <a:solidFill>
                  <a:srgbClr val="0F172A"/>
                </a:solidFill>
              </a:defRPr>
            </a:pPr>
            <a:r>
              <a:t>- Daily single-lead smartwatch ECG monitors for AF recurrence.</a:t>
            </a:r>
          </a:p>
          <a:p>
            <a:pPr>
              <a:spcBef>
                <a:spcPts val="800"/>
              </a:spcBef>
              <a:defRPr sz="1200">
                <a:solidFill>
                  <a:srgbClr val="0F172A"/>
                </a:solidFill>
              </a:defRPr>
            </a:pPr>
            <a:r>
              <a:t>- Lead I captures frontal plane potentials, with limited sensitivity to orthogonal atrial vectors.</a:t>
            </a:r>
          </a:p>
          <a:p>
            <a:pPr>
              <a:spcBef>
                <a:spcPts val="800"/>
              </a:spcBef>
              <a:defRPr sz="1200">
                <a:solidFill>
                  <a:srgbClr val="0F172A"/>
                </a:solidFill>
              </a:defRPr>
            </a:pPr>
            <a:r>
              <a:t>- Auxiliary 12-lead reconstruction head encourages representation of full 3D vector loops.</a:t>
            </a:r>
          </a:p>
          <a:p>
            <a:pPr>
              <a:spcBef>
                <a:spcPts val="800"/>
              </a:spcBef>
              <a:defRPr sz="1200">
                <a:solidFill>
                  <a:srgbClr val="0F172A"/>
                </a:solidFill>
              </a:defRPr>
            </a:pPr>
            <a:r>
              <a:t>- Supports atrial feature extraction without altering primary single-lead inference inputs.</a:t>
            </a:r>
          </a:p>
        </p:txBody>
      </p:sp>
      <p:sp>
        <p:nvSpPr>
          <p:cNvPr id="9" name="TextBox 8"/>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Auxiliary 12-lead reconstruction acts as an inductive regularizer during pretraining.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Figure 1: The ECG-AIM Model Architecture</a:t>
            </a:r>
          </a:p>
          <a:p>
            <a:pPr>
              <a:defRPr sz="1300">
                <a:solidFill>
                  <a:srgbClr val="64748B"/>
                </a:solidFill>
                <a:latin typeface="Arial"/>
              </a:defRPr>
            </a:pPr>
            <a:r>
              <a:t>Network architecture and feature extraction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7 / 19</a:t>
            </a:r>
          </a:p>
        </p:txBody>
      </p:sp>
      <p:pic>
        <p:nvPicPr>
          <p:cNvPr id="5" name="Picture 4" descr="conv15e_a0_wave_architecture.png"/>
          <p:cNvPicPr>
            <a:picLocks noChangeAspect="1"/>
          </p:cNvPicPr>
          <p:nvPr/>
        </p:nvPicPr>
        <p:blipFill>
          <a:blip r:embed="rId2"/>
          <a:stretch>
            <a:fillRect/>
          </a:stretch>
        </p:blipFill>
        <p:spPr>
          <a:xfrm>
            <a:off x="731520" y="1645920"/>
            <a:ext cx="5303520" cy="4480560"/>
          </a:xfrm>
          <a:prstGeom prst="rect">
            <a:avLst/>
          </a:prstGeom>
        </p:spPr>
      </p:pic>
      <p:sp>
        <p:nvSpPr>
          <p:cNvPr id="6" name="Rounded Rectangle 5"/>
          <p:cNvSpPr/>
          <p:nvPr/>
        </p:nvSpPr>
        <p:spPr>
          <a:xfrm>
            <a:off x="6309360" y="1645920"/>
            <a:ext cx="512064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754880" cy="4297680"/>
          </a:xfrm>
          <a:prstGeom prst="rect">
            <a:avLst/>
          </a:prstGeom>
          <a:noFill/>
        </p:spPr>
        <p:txBody>
          <a:bodyPr wrap="square">
            <a:spAutoFit/>
          </a:bodyPr>
          <a:lstStyle/>
          <a:p>
            <a:pPr>
              <a:defRPr sz="1400" b="1">
                <a:solidFill>
                  <a:srgbClr val="1E3A8A"/>
                </a:solidFill>
              </a:defRPr>
            </a:pPr>
            <a:r>
              <a:t>Architecture Components</a:t>
            </a:r>
          </a:p>
          <a:p>
            <a:pPr>
              <a:spcBef>
                <a:spcPts val="800"/>
              </a:spcBef>
              <a:defRPr sz="1100">
                <a:solidFill>
                  <a:srgbClr val="0F172A"/>
                </a:solidFill>
              </a:defRPr>
            </a:pPr>
            <a:r>
              <a:t>- 50 ms temporal patches project single-lead input (1x5000) into token embeddings.</a:t>
            </a:r>
          </a:p>
          <a:p>
            <a:pPr>
              <a:spcBef>
                <a:spcPts val="800"/>
              </a:spcBef>
              <a:defRPr sz="1100">
                <a:solidFill>
                  <a:srgbClr val="0F172A"/>
                </a:solidFill>
              </a:defRPr>
            </a:pPr>
            <a:r>
              <a:t>- Continuous Morlet wavelet bank across 32 frequency scales (0.5-45 Hz).</a:t>
            </a:r>
          </a:p>
          <a:p>
            <a:pPr>
              <a:spcBef>
                <a:spcPts val="800"/>
              </a:spcBef>
              <a:defRPr sz="1100">
                <a:solidFill>
                  <a:srgbClr val="0F172A"/>
                </a:solidFill>
              </a:defRPr>
            </a:pPr>
            <a:r>
              <a:t>- Combined TimeSformer spatiotemporal attention and 1D convolutions.</a:t>
            </a:r>
          </a:p>
          <a:p>
            <a:pPr>
              <a:spcBef>
                <a:spcPts val="800"/>
              </a:spcBef>
              <a:defRPr sz="1100">
                <a:solidFill>
                  <a:srgbClr val="0F172A"/>
                </a:solidFill>
              </a:defRPr>
            </a:pPr>
            <a:r>
              <a:t>- Sigmoid-gated residual fusion: Z = Z_t + sigma(W[Z_t, Z_w]) * Z_w.</a:t>
            </a:r>
          </a:p>
          <a:p>
            <a:pPr>
              <a:spcBef>
                <a:spcPts val="800"/>
              </a:spcBef>
              <a:defRPr sz="1100">
                <a:solidFill>
                  <a:srgbClr val="0F172A"/>
                </a:solidFill>
              </a:defRPr>
            </a:pPr>
            <a:r>
              <a:t>- 8-layer transformer encoder (d=768, 12 attention heads).</a:t>
            </a:r>
          </a:p>
          <a:p>
            <a:pPr>
              <a:spcBef>
                <a:spcPts val="800"/>
              </a:spcBef>
              <a:defRPr sz="1100">
                <a:solidFill>
                  <a:srgbClr val="0F172A"/>
                </a:solidFill>
              </a:defRPr>
            </a:pPr>
            <a:r>
              <a:t>- Axial transformer decoder resolving temporal and cross-lead spatial features.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Figure 2: ECG-AIM Multi-Task Training Pipeline</a:t>
            </a:r>
          </a:p>
          <a:p>
            <a:pPr>
              <a:defRPr sz="1300">
                <a:solidFill>
                  <a:srgbClr val="64748B"/>
                </a:solidFill>
                <a:latin typeface="Arial"/>
              </a:defRPr>
            </a:pPr>
            <a:r>
              <a:t>Single-lead simulation and objective functions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8 / 19</a:t>
            </a:r>
          </a:p>
        </p:txBody>
      </p:sp>
      <p:pic>
        <p:nvPicPr>
          <p:cNvPr id="5" name="Picture 4" descr="ecg_aim_training_pipeline.png"/>
          <p:cNvPicPr>
            <a:picLocks noChangeAspect="1"/>
          </p:cNvPicPr>
          <p:nvPr/>
        </p:nvPicPr>
        <p:blipFill>
          <a:blip r:embed="rId2"/>
          <a:stretch>
            <a:fillRect/>
          </a:stretch>
        </p:blipFill>
        <p:spPr>
          <a:xfrm>
            <a:off x="1874519" y="1554480"/>
            <a:ext cx="8439912" cy="4709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Empirical Validation of ECG-AIM: Benchmark Performance</a:t>
            </a:r>
          </a:p>
          <a:p>
            <a:pPr>
              <a:defRPr sz="1300">
                <a:solidFill>
                  <a:srgbClr val="64748B"/>
                </a:solidFill>
                <a:latin typeface="Arial"/>
              </a:defRPr>
            </a:pPr>
            <a:r>
              <a:t>Comparative benchmark against 3DRECON-QT</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9 / 19</a:t>
            </a:r>
          </a:p>
        </p:txBody>
      </p:sp>
      <p:graphicFrame>
        <p:nvGraphicFramePr>
          <p:cNvPr id="5" name="Table 4"/>
          <p:cNvGraphicFramePr>
            <a:graphicFrameLocks noGrp="1"/>
          </p:cNvGraphicFramePr>
          <p:nvPr/>
        </p:nvGraphicFramePr>
        <p:xfrm>
          <a:off x="731520" y="1645920"/>
          <a:ext cx="10698480" cy="2468880"/>
        </p:xfrm>
        <a:graphic>
          <a:graphicData uri="http://schemas.openxmlformats.org/drawingml/2006/table">
            <a:tbl>
              <a:tblPr firstRow="1" bandRow="1">
                <a:tableStyleId>{5C22544A-7EE6-4342-B048-85BDC9FD1C3A}</a:tableStyleId>
              </a:tblPr>
              <a:tblGrid>
                <a:gridCol w="2926080"/>
                <a:gridCol w="1645920"/>
                <a:gridCol w="1920240"/>
                <a:gridCol w="1645920"/>
                <a:gridCol w="2560320"/>
              </a:tblGrid>
              <a:tr h="352697">
                <a:tc>
                  <a:txBody>
                    <a:bodyPr/>
                    <a:lstStyle/>
                    <a:p>
                      <a:pPr>
                        <a:defRPr sz="1000" b="1">
                          <a:solidFill>
                            <a:srgbClr val="FFFFFF"/>
                          </a:solidFill>
                          <a:latin typeface="Arial"/>
                        </a:defRPr>
                      </a:pPr>
                      <a:r>
                        <a:t>Clinical Evaluation Dimension</a:t>
                      </a:r>
                    </a:p>
                  </a:txBody>
                  <a:tcPr>
                    <a:solidFill>
                      <a:srgbClr val="1E3A8A"/>
                    </a:solidFill>
                  </a:tcPr>
                </a:tc>
                <a:tc>
                  <a:txBody>
                    <a:bodyPr/>
                    <a:lstStyle/>
                    <a:p>
                      <a:pPr>
                        <a:defRPr sz="1000" b="1">
                          <a:solidFill>
                            <a:srgbClr val="FFFFFF"/>
                          </a:solidFill>
                          <a:latin typeface="Arial"/>
                        </a:defRPr>
                      </a:pPr>
                      <a:r>
                        <a:t>Factorial Baseline</a:t>
                      </a:r>
                    </a:p>
                  </a:txBody>
                  <a:tcPr>
                    <a:solidFill>
                      <a:srgbClr val="1E3A8A"/>
                    </a:solidFill>
                  </a:tcPr>
                </a:tc>
                <a:tc>
                  <a:txBody>
                    <a:bodyPr/>
                    <a:lstStyle/>
                    <a:p>
                      <a:pPr>
                        <a:defRPr sz="1000" b="1">
                          <a:solidFill>
                            <a:srgbClr val="FFFFFF"/>
                          </a:solidFill>
                          <a:latin typeface="Arial"/>
                        </a:defRPr>
                      </a:pPr>
                      <a:r>
                        <a:t>Stanford 3DRECON-QT</a:t>
                      </a:r>
                    </a:p>
                  </a:txBody>
                  <a:tcPr>
                    <a:solidFill>
                      <a:srgbClr val="1E3A8A"/>
                    </a:solidFill>
                  </a:tcPr>
                </a:tc>
                <a:tc>
                  <a:txBody>
                    <a:bodyPr/>
                    <a:lstStyle/>
                    <a:p>
                      <a:pPr>
                        <a:defRPr sz="1000" b="1">
                          <a:solidFill>
                            <a:srgbClr val="FFFFFF"/>
                          </a:solidFill>
                          <a:latin typeface="Arial"/>
                        </a:defRPr>
                      </a:pPr>
                      <a:r>
                        <a:t>ECG-AIM (Ours)</a:t>
                      </a:r>
                    </a:p>
                  </a:txBody>
                  <a:tcPr>
                    <a:solidFill>
                      <a:srgbClr val="1E3A8A"/>
                    </a:solidFill>
                  </a:tcPr>
                </a:tc>
                <a:tc>
                  <a:txBody>
                    <a:bodyPr/>
                    <a:lstStyle/>
                    <a:p>
                      <a:pPr>
                        <a:defRPr sz="1000" b="1">
                          <a:solidFill>
                            <a:srgbClr val="FFFFFF"/>
                          </a:solidFill>
                          <a:latin typeface="Arial"/>
                        </a:defRPr>
                      </a:pPr>
                      <a:r>
                        <a:t>Statistical Contrast</a:t>
                      </a:r>
                    </a:p>
                  </a:txBody>
                  <a:tcPr>
                    <a:solidFill>
                      <a:srgbClr val="1E3A8A"/>
                    </a:solidFill>
                  </a:tcPr>
                </a:tc>
              </a:tr>
              <a:tr h="352697">
                <a:tc>
                  <a:txBody>
                    <a:bodyPr/>
                    <a:lstStyle/>
                    <a:p>
                      <a:pPr>
                        <a:defRPr sz="1000" b="1">
                          <a:solidFill>
                            <a:srgbClr val="1E3A8A"/>
                          </a:solidFill>
                          <a:latin typeface="Arial"/>
                        </a:defRPr>
                      </a:pPr>
                      <a:r>
                        <a:t>Precordial Chest Mean Pearson r</a:t>
                      </a:r>
                    </a:p>
                  </a:txBody>
                  <a:tcPr>
                    <a:solidFill>
                      <a:srgbClr val="F8FAFC"/>
                    </a:solidFill>
                  </a:tcPr>
                </a:tc>
                <a:tc>
                  <a:txBody>
                    <a:bodyPr/>
                    <a:lstStyle/>
                    <a:p>
                      <a:pPr>
                        <a:defRPr sz="1000">
                          <a:solidFill>
                            <a:srgbClr val="0F172A"/>
                          </a:solidFill>
                          <a:latin typeface="Arial"/>
                        </a:defRPr>
                      </a:pPr>
                      <a:r>
                        <a:t>0.570</a:t>
                      </a:r>
                    </a:p>
                  </a:txBody>
                  <a:tcPr>
                    <a:solidFill>
                      <a:srgbClr val="F8FAFC"/>
                    </a:solidFill>
                  </a:tcPr>
                </a:tc>
                <a:tc>
                  <a:txBody>
                    <a:bodyPr/>
                    <a:lstStyle/>
                    <a:p>
                      <a:pPr>
                        <a:defRPr sz="1000">
                          <a:solidFill>
                            <a:srgbClr val="0F172A"/>
                          </a:solidFill>
                          <a:latin typeface="Arial"/>
                        </a:defRPr>
                      </a:pPr>
                      <a:r>
                        <a:t>0.732</a:t>
                      </a:r>
                    </a:p>
                  </a:txBody>
                  <a:tcPr>
                    <a:solidFill>
                      <a:srgbClr val="F8FAFC"/>
                    </a:solidFill>
                  </a:tcPr>
                </a:tc>
                <a:tc>
                  <a:txBody>
                    <a:bodyPr/>
                    <a:lstStyle/>
                    <a:p>
                      <a:pPr>
                        <a:defRPr sz="1000" b="1">
                          <a:solidFill>
                            <a:srgbClr val="1E3A8A"/>
                          </a:solidFill>
                          <a:latin typeface="Arial"/>
                        </a:defRPr>
                      </a:pPr>
                      <a:r>
                        <a:t>0.776</a:t>
                      </a:r>
                    </a:p>
                  </a:txBody>
                  <a:tcPr>
                    <a:solidFill>
                      <a:srgbClr val="F8FAFC"/>
                    </a:solidFill>
                  </a:tcPr>
                </a:tc>
                <a:tc>
                  <a:txBody>
                    <a:bodyPr/>
                    <a:lstStyle/>
                    <a:p>
                      <a:pPr>
                        <a:defRPr sz="1000">
                          <a:solidFill>
                            <a:srgbClr val="0F172A"/>
                          </a:solidFill>
                          <a:latin typeface="Arial"/>
                        </a:defRPr>
                      </a:pPr>
                      <a:r>
                        <a:t>Delta = +0.206 (p &lt; 10^-300), Ranked #3 of 55</a:t>
                      </a:r>
                    </a:p>
                  </a:txBody>
                  <a:tcPr>
                    <a:solidFill>
                      <a:srgbClr val="F8FAFC"/>
                    </a:solidFill>
                  </a:tcPr>
                </a:tc>
              </a:tr>
              <a:tr h="352697">
                <a:tc>
                  <a:txBody>
                    <a:bodyPr/>
                    <a:lstStyle/>
                    <a:p>
                      <a:pPr>
                        <a:defRPr sz="1000" b="1">
                          <a:solidFill>
                            <a:srgbClr val="1E3A8A"/>
                          </a:solidFill>
                          <a:latin typeface="Arial"/>
                        </a:defRPr>
                      </a:pPr>
                      <a:r>
                        <a:t>Anterior Lead V3 Pearson r</a:t>
                      </a:r>
                    </a:p>
                  </a:txBody>
                  <a:tcPr>
                    <a:solidFill>
                      <a:srgbClr val="FFFFFF"/>
                    </a:solidFill>
                  </a:tcPr>
                </a:tc>
                <a:tc>
                  <a:txBody>
                    <a:bodyPr/>
                    <a:lstStyle/>
                    <a:p>
                      <a:pPr>
                        <a:defRPr sz="1000">
                          <a:solidFill>
                            <a:srgbClr val="0F172A"/>
                          </a:solidFill>
                          <a:latin typeface="Arial"/>
                        </a:defRPr>
                      </a:pPr>
                      <a:r>
                        <a:t>0.382</a:t>
                      </a:r>
                    </a:p>
                  </a:txBody>
                  <a:tcPr>
                    <a:solidFill>
                      <a:srgbClr val="FFFFFF"/>
                    </a:solidFill>
                  </a:tcPr>
                </a:tc>
                <a:tc>
                  <a:txBody>
                    <a:bodyPr/>
                    <a:lstStyle/>
                    <a:p>
                      <a:pPr>
                        <a:defRPr sz="1000">
                          <a:solidFill>
                            <a:srgbClr val="0F172A"/>
                          </a:solidFill>
                          <a:latin typeface="Arial"/>
                        </a:defRPr>
                      </a:pPr>
                      <a:r>
                        <a:t>0.670</a:t>
                      </a:r>
                    </a:p>
                  </a:txBody>
                  <a:tcPr>
                    <a:solidFill>
                      <a:srgbClr val="FFFFFF"/>
                    </a:solidFill>
                  </a:tcPr>
                </a:tc>
                <a:tc>
                  <a:txBody>
                    <a:bodyPr/>
                    <a:lstStyle/>
                    <a:p>
                      <a:pPr>
                        <a:defRPr sz="1000" b="1">
                          <a:solidFill>
                            <a:srgbClr val="1E3A8A"/>
                          </a:solidFill>
                          <a:latin typeface="Arial"/>
                        </a:defRPr>
                      </a:pPr>
                      <a:r>
                        <a:t>0.739</a:t>
                      </a:r>
                    </a:p>
                  </a:txBody>
                  <a:tcPr>
                    <a:solidFill>
                      <a:srgbClr val="FFFFFF"/>
                    </a:solidFill>
                  </a:tcPr>
                </a:tc>
                <a:tc>
                  <a:txBody>
                    <a:bodyPr/>
                    <a:lstStyle/>
                    <a:p>
                      <a:pPr>
                        <a:defRPr sz="1000">
                          <a:solidFill>
                            <a:srgbClr val="0F172A"/>
                          </a:solidFill>
                          <a:latin typeface="Arial"/>
                        </a:defRPr>
                      </a:pPr>
                      <a:r>
                        <a:t>Delta = +0.357 (p &lt; 10^-300), Anterior wall view</a:t>
                      </a:r>
                    </a:p>
                  </a:txBody>
                  <a:tcPr>
                    <a:solidFill>
                      <a:srgbClr val="FFFFFF"/>
                    </a:solidFill>
                  </a:tcPr>
                </a:tc>
              </a:tr>
              <a:tr h="352697">
                <a:tc>
                  <a:txBody>
                    <a:bodyPr/>
                    <a:lstStyle/>
                    <a:p>
                      <a:pPr>
                        <a:defRPr sz="1000" b="1">
                          <a:solidFill>
                            <a:srgbClr val="1E3A8A"/>
                          </a:solidFill>
                          <a:latin typeface="Arial"/>
                        </a:defRPr>
                      </a:pPr>
                      <a:r>
                        <a:t>QRS Duration Error (MAE / Median)</a:t>
                      </a:r>
                    </a:p>
                  </a:txBody>
                  <a:tcPr>
                    <a:solidFill>
                      <a:srgbClr val="F8FAFC"/>
                    </a:solidFill>
                  </a:tcPr>
                </a:tc>
                <a:tc>
                  <a:txBody>
                    <a:bodyPr/>
                    <a:lstStyle/>
                    <a:p>
                      <a:pPr>
                        <a:defRPr sz="1000">
                          <a:solidFill>
                            <a:srgbClr val="0F172A"/>
                          </a:solidFill>
                          <a:latin typeface="Arial"/>
                        </a:defRPr>
                      </a:pPr>
                      <a:r>
                        <a:t>13.85 ms</a:t>
                      </a:r>
                    </a:p>
                  </a:txBody>
                  <a:tcPr>
                    <a:solidFill>
                      <a:srgbClr val="F8FAFC"/>
                    </a:solidFill>
                  </a:tcPr>
                </a:tc>
                <a:tc>
                  <a:txBody>
                    <a:bodyPr/>
                    <a:lstStyle/>
                    <a:p>
                      <a:pPr>
                        <a:defRPr sz="1000">
                          <a:solidFill>
                            <a:srgbClr val="0F172A"/>
                          </a:solidFill>
                          <a:latin typeface="Arial"/>
                        </a:defRPr>
                      </a:pPr>
                      <a:r>
                        <a:t>10.26 ms</a:t>
                      </a:r>
                    </a:p>
                  </a:txBody>
                  <a:tcPr>
                    <a:solidFill>
                      <a:srgbClr val="F8FAFC"/>
                    </a:solidFill>
                  </a:tcPr>
                </a:tc>
                <a:tc>
                  <a:txBody>
                    <a:bodyPr/>
                    <a:lstStyle/>
                    <a:p>
                      <a:pPr>
                        <a:defRPr sz="1000" b="1">
                          <a:solidFill>
                            <a:srgbClr val="1E3A8A"/>
                          </a:solidFill>
                          <a:latin typeface="Arial"/>
                        </a:defRPr>
                      </a:pPr>
                      <a:r>
                        <a:t>10.05 / 8.0 ms</a:t>
                      </a:r>
                    </a:p>
                  </a:txBody>
                  <a:tcPr>
                    <a:solidFill>
                      <a:srgbClr val="F8FAFC"/>
                    </a:solidFill>
                  </a:tcPr>
                </a:tc>
                <a:tc>
                  <a:txBody>
                    <a:bodyPr/>
                    <a:lstStyle/>
                    <a:p>
                      <a:pPr>
                        <a:defRPr sz="1000">
                          <a:solidFill>
                            <a:srgbClr val="0F172A"/>
                          </a:solidFill>
                          <a:latin typeface="Arial"/>
                        </a:defRPr>
                      </a:pPr>
                      <a:r>
                        <a:t>Depolarization tracking</a:t>
                      </a:r>
                    </a:p>
                  </a:txBody>
                  <a:tcPr>
                    <a:solidFill>
                      <a:srgbClr val="F8FAFC"/>
                    </a:solidFill>
                  </a:tcPr>
                </a:tc>
              </a:tr>
              <a:tr h="352697">
                <a:tc>
                  <a:txBody>
                    <a:bodyPr/>
                    <a:lstStyle/>
                    <a:p>
                      <a:pPr>
                        <a:defRPr sz="1000" b="1">
                          <a:solidFill>
                            <a:srgbClr val="1E3A8A"/>
                          </a:solidFill>
                          <a:latin typeface="Arial"/>
                        </a:defRPr>
                      </a:pPr>
                      <a:r>
                        <a:t>Conduction Delay Concordance (&gt;120ms)</a:t>
                      </a:r>
                    </a:p>
                  </a:txBody>
                  <a:tcPr>
                    <a:solidFill>
                      <a:srgbClr val="FFFFFF"/>
                    </a:solidFill>
                  </a:tcPr>
                </a:tc>
                <a:tc>
                  <a:txBody>
                    <a:bodyPr/>
                    <a:lstStyle/>
                    <a:p>
                      <a:pPr>
                        <a:defRPr sz="1000">
                          <a:solidFill>
                            <a:srgbClr val="0F172A"/>
                          </a:solidFill>
                          <a:latin typeface="Arial"/>
                        </a:defRPr>
                      </a:pPr>
                      <a:r>
                        <a:t>90.7%</a:t>
                      </a:r>
                    </a:p>
                  </a:txBody>
                  <a:tcPr>
                    <a:solidFill>
                      <a:srgbClr val="FFFFFF"/>
                    </a:solidFill>
                  </a:tcPr>
                </a:tc>
                <a:tc>
                  <a:txBody>
                    <a:bodyPr/>
                    <a:lstStyle/>
                    <a:p>
                      <a:pPr>
                        <a:defRPr sz="1000">
                          <a:solidFill>
                            <a:srgbClr val="0F172A"/>
                          </a:solidFill>
                          <a:latin typeface="Arial"/>
                        </a:defRPr>
                      </a:pPr>
                      <a:r>
                        <a:t>94.3%</a:t>
                      </a:r>
                    </a:p>
                  </a:txBody>
                  <a:tcPr>
                    <a:solidFill>
                      <a:srgbClr val="FFFFFF"/>
                    </a:solidFill>
                  </a:tcPr>
                </a:tc>
                <a:tc>
                  <a:txBody>
                    <a:bodyPr/>
                    <a:lstStyle/>
                    <a:p>
                      <a:pPr>
                        <a:defRPr sz="1000" b="1">
                          <a:solidFill>
                            <a:srgbClr val="1E3A8A"/>
                          </a:solidFill>
                          <a:latin typeface="Arial"/>
                        </a:defRPr>
                      </a:pPr>
                      <a:r>
                        <a:t>94.3%</a:t>
                      </a:r>
                    </a:p>
                  </a:txBody>
                  <a:tcPr>
                    <a:solidFill>
                      <a:srgbClr val="FFFFFF"/>
                    </a:solidFill>
                  </a:tcPr>
                </a:tc>
                <a:tc>
                  <a:txBody>
                    <a:bodyPr/>
                    <a:lstStyle/>
                    <a:p>
                      <a:pPr>
                        <a:defRPr sz="1000">
                          <a:solidFill>
                            <a:srgbClr val="0F172A"/>
                          </a:solidFill>
                          <a:latin typeface="Arial"/>
                        </a:defRPr>
                      </a:pPr>
                      <a:r>
                        <a:t>aOR = 1.84 (p &lt; 10^-17), Specificity: 96.5%</a:t>
                      </a:r>
                    </a:p>
                  </a:txBody>
                  <a:tcPr>
                    <a:solidFill>
                      <a:srgbClr val="FFFFFF"/>
                    </a:solidFill>
                  </a:tcPr>
                </a:tc>
              </a:tr>
              <a:tr h="352697">
                <a:tc>
                  <a:txBody>
                    <a:bodyPr/>
                    <a:lstStyle/>
                    <a:p>
                      <a:pPr>
                        <a:defRPr sz="1000" b="1">
                          <a:solidFill>
                            <a:srgbClr val="1E3A8A"/>
                          </a:solidFill>
                          <a:latin typeface="Arial"/>
                        </a:defRPr>
                      </a:pPr>
                      <a:r>
                        <a:t>Sokolow-Lyon LVH Voltage MAE</a:t>
                      </a:r>
                    </a:p>
                  </a:txBody>
                  <a:tcPr>
                    <a:solidFill>
                      <a:srgbClr val="F8FAFC"/>
                    </a:solidFill>
                  </a:tcPr>
                </a:tc>
                <a:tc>
                  <a:txBody>
                    <a:bodyPr/>
                    <a:lstStyle/>
                    <a:p>
                      <a:pPr>
                        <a:defRPr sz="1000">
                          <a:solidFill>
                            <a:srgbClr val="0F172A"/>
                          </a:solidFill>
                          <a:latin typeface="Arial"/>
                        </a:defRPr>
                      </a:pPr>
                      <a:r>
                        <a:t>1.13 mV</a:t>
                      </a:r>
                    </a:p>
                  </a:txBody>
                  <a:tcPr>
                    <a:solidFill>
                      <a:srgbClr val="F8FAFC"/>
                    </a:solidFill>
                  </a:tcPr>
                </a:tc>
                <a:tc>
                  <a:txBody>
                    <a:bodyPr/>
                    <a:lstStyle/>
                    <a:p>
                      <a:pPr>
                        <a:defRPr sz="1000">
                          <a:solidFill>
                            <a:srgbClr val="0F172A"/>
                          </a:solidFill>
                          <a:latin typeface="Arial"/>
                        </a:defRPr>
                      </a:pPr>
                      <a:r>
                        <a:t>0.63 mV</a:t>
                      </a:r>
                    </a:p>
                  </a:txBody>
                  <a:tcPr>
                    <a:solidFill>
                      <a:srgbClr val="F8FAFC"/>
                    </a:solidFill>
                  </a:tcPr>
                </a:tc>
                <a:tc>
                  <a:txBody>
                    <a:bodyPr/>
                    <a:lstStyle/>
                    <a:p>
                      <a:pPr>
                        <a:defRPr sz="1000" b="1">
                          <a:solidFill>
                            <a:srgbClr val="1E3A8A"/>
                          </a:solidFill>
                          <a:latin typeface="Arial"/>
                        </a:defRPr>
                      </a:pPr>
                      <a:r>
                        <a:t>0.72 mV</a:t>
                      </a:r>
                    </a:p>
                  </a:txBody>
                  <a:tcPr>
                    <a:solidFill>
                      <a:srgbClr val="F8FAFC"/>
                    </a:solidFill>
                  </a:tcPr>
                </a:tc>
                <a:tc>
                  <a:txBody>
                    <a:bodyPr/>
                    <a:lstStyle/>
                    <a:p>
                      <a:pPr>
                        <a:defRPr sz="1000">
                          <a:solidFill>
                            <a:srgbClr val="0F172A"/>
                          </a:solidFill>
                          <a:latin typeface="Arial"/>
                        </a:defRPr>
                      </a:pPr>
                      <a:r>
                        <a:t>ICC = 0.714, Hypertrophy quantification</a:t>
                      </a:r>
                    </a:p>
                  </a:txBody>
                  <a:tcPr>
                    <a:solidFill>
                      <a:srgbClr val="F8FAFC"/>
                    </a:solidFill>
                  </a:tcPr>
                </a:tc>
              </a:tr>
              <a:tr h="352698">
                <a:tc>
                  <a:txBody>
                    <a:bodyPr/>
                    <a:lstStyle/>
                    <a:p>
                      <a:pPr>
                        <a:defRPr sz="1000" b="1">
                          <a:solidFill>
                            <a:srgbClr val="1E3A8A"/>
                          </a:solidFill>
                          <a:latin typeface="Arial"/>
                        </a:defRPr>
                      </a:pPr>
                      <a:r>
                        <a:t>EchoNext Structural Heart Disease</a:t>
                      </a:r>
                    </a:p>
                  </a:txBody>
                  <a:tcPr>
                    <a:solidFill>
                      <a:srgbClr val="FFFFFF"/>
                    </a:solidFill>
                  </a:tcPr>
                </a:tc>
                <a:tc>
                  <a:txBody>
                    <a:bodyPr/>
                    <a:lstStyle/>
                    <a:p>
                      <a:pPr>
                        <a:defRPr sz="1000">
                          <a:solidFill>
                            <a:srgbClr val="0F172A"/>
                          </a:solidFill>
                          <a:latin typeface="Arial"/>
                        </a:defRPr>
                      </a:pPr>
                      <a:r>
                        <a:t>68.8%</a:t>
                      </a:r>
                    </a:p>
                  </a:txBody>
                  <a:tcPr>
                    <a:solidFill>
                      <a:srgbClr val="FFFFFF"/>
                    </a:solidFill>
                  </a:tcPr>
                </a:tc>
                <a:tc>
                  <a:txBody>
                    <a:bodyPr/>
                    <a:lstStyle/>
                    <a:p>
                      <a:pPr>
                        <a:defRPr sz="1000">
                          <a:solidFill>
                            <a:srgbClr val="0F172A"/>
                          </a:solidFill>
                          <a:latin typeface="Arial"/>
                        </a:defRPr>
                      </a:pPr>
                      <a:r>
                        <a:t>46.5%</a:t>
                      </a:r>
                    </a:p>
                  </a:txBody>
                  <a:tcPr>
                    <a:solidFill>
                      <a:srgbClr val="FFFFFF"/>
                    </a:solidFill>
                  </a:tcPr>
                </a:tc>
                <a:tc>
                  <a:txBody>
                    <a:bodyPr/>
                    <a:lstStyle/>
                    <a:p>
                      <a:pPr>
                        <a:defRPr sz="1000" b="1">
                          <a:solidFill>
                            <a:srgbClr val="1E3A8A"/>
                          </a:solidFill>
                          <a:latin typeface="Arial"/>
                        </a:defRPr>
                      </a:pPr>
                      <a:r>
                        <a:t>71.6%</a:t>
                      </a:r>
                    </a:p>
                  </a:txBody>
                  <a:tcPr>
                    <a:solidFill>
                      <a:srgbClr val="FFFFFF"/>
                    </a:solidFill>
                  </a:tcPr>
                </a:tc>
                <a:tc>
                  <a:txBody>
                    <a:bodyPr/>
                    <a:lstStyle/>
                    <a:p>
                      <a:pPr>
                        <a:defRPr sz="1000">
                          <a:solidFill>
                            <a:srgbClr val="0F172A"/>
                          </a:solidFill>
                          <a:latin typeface="Arial"/>
                        </a:defRPr>
                      </a:pPr>
                      <a:r>
                        <a:t>Preserves chamber echocardiographic pathology</a:t>
                      </a:r>
                    </a:p>
                  </a:txBody>
                  <a:tcPr>
                    <a:solidFill>
                      <a:srgbClr val="FFFFFF"/>
                    </a:solidFill>
                  </a:tcPr>
                </a:tc>
              </a:tr>
            </a:tbl>
          </a:graphicData>
        </a:graphic>
      </p:graphicFrame>
      <p:sp>
        <p:nvSpPr>
          <p:cNvPr id="6" name="Rounded Rectangle 5"/>
          <p:cNvSpPr/>
          <p:nvPr/>
        </p:nvSpPr>
        <p:spPr>
          <a:xfrm>
            <a:off x="731520" y="4297680"/>
            <a:ext cx="5212080" cy="1828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4846320" cy="1645920"/>
          </a:xfrm>
          <a:prstGeom prst="rect">
            <a:avLst/>
          </a:prstGeom>
          <a:noFill/>
        </p:spPr>
        <p:txBody>
          <a:bodyPr wrap="square">
            <a:spAutoFit/>
          </a:bodyPr>
          <a:lstStyle/>
          <a:p>
            <a:pPr>
              <a:defRPr sz="1300" b="1">
                <a:solidFill>
                  <a:srgbClr val="1E3A8A"/>
                </a:solidFill>
              </a:defRPr>
            </a:pPr>
            <a:r>
              <a:t>Time-Frequency Feature Preservation</a:t>
            </a:r>
          </a:p>
          <a:p>
            <a:pPr>
              <a:spcBef>
                <a:spcPts val="400"/>
              </a:spcBef>
              <a:defRPr sz="1050">
                <a:solidFill>
                  <a:srgbClr val="0F172A"/>
                </a:solidFill>
              </a:defRPr>
            </a:pPr>
            <a:r>
              <a:t>Continuous Morlet wavelets preserve high-frequency QRS details and ST-T repolarization without baseline distortion, improving chest lead correlation over static CNN baselines (r = 0.776 vs. 0.732).</a:t>
            </a:r>
          </a:p>
        </p:txBody>
      </p:sp>
      <p:sp>
        <p:nvSpPr>
          <p:cNvPr id="8" name="Rounded Rectangle 7"/>
          <p:cNvSpPr/>
          <p:nvPr/>
        </p:nvSpPr>
        <p:spPr>
          <a:xfrm>
            <a:off x="6217920" y="4297680"/>
            <a:ext cx="5212080" cy="1828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389120"/>
            <a:ext cx="4846320" cy="1645920"/>
          </a:xfrm>
          <a:prstGeom prst="rect">
            <a:avLst/>
          </a:prstGeom>
          <a:noFill/>
        </p:spPr>
        <p:txBody>
          <a:bodyPr wrap="square">
            <a:spAutoFit/>
          </a:bodyPr>
          <a:lstStyle/>
          <a:p>
            <a:pPr>
              <a:defRPr sz="1300" b="1">
                <a:solidFill>
                  <a:srgbClr val="1E3A8A"/>
                </a:solidFill>
              </a:defRPr>
            </a:pPr>
            <a:r>
              <a:t>Generalization to Structural Phenotypes</a:t>
            </a:r>
          </a:p>
          <a:p>
            <a:pPr>
              <a:spcBef>
                <a:spcPts val="400"/>
              </a:spcBef>
              <a:defRPr sz="1050">
                <a:solidFill>
                  <a:srgbClr val="0F172A"/>
                </a:solidFill>
              </a:defRPr>
            </a:pPr>
            <a:r>
              <a:t>On the EchoNext cohort, 3DRECON-QT demonstrated reduced structural concordance (46.5% overall, 33.3% on reduced LVEF). The gated wavelet transformer maintains 71.6% concordance across echocardiographic phenotypes.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Zero-Shot Multi-Cohort Generalization &amp; Flexible Lead Inputs</a:t>
            </a:r>
          </a:p>
          <a:p>
            <a:pPr>
              <a:defRPr sz="1300">
                <a:solidFill>
                  <a:srgbClr val="64748B"/>
                </a:solidFill>
                <a:latin typeface="Arial"/>
              </a:defRPr>
            </a:pPr>
            <a:r>
              <a:t>Evaluation across variable lead configurations and external cohorts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10 / 19</a:t>
            </a:r>
          </a:p>
        </p:txBody>
      </p:sp>
      <p:sp>
        <p:nvSpPr>
          <p:cNvPr id="5" name="Rounded Rectangle 4"/>
          <p:cNvSpPr/>
          <p:nvPr/>
        </p:nvSpPr>
        <p:spPr>
          <a:xfrm>
            <a:off x="731520" y="1645920"/>
            <a:ext cx="457200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206240" cy="3931920"/>
          </a:xfrm>
          <a:prstGeom prst="rect">
            <a:avLst/>
          </a:prstGeom>
          <a:noFill/>
        </p:spPr>
        <p:txBody>
          <a:bodyPr wrap="square">
            <a:spAutoFit/>
          </a:bodyPr>
          <a:lstStyle/>
          <a:p>
            <a:pPr>
              <a:defRPr sz="1400" b="1">
                <a:solidFill>
                  <a:srgbClr val="1E3A8A"/>
                </a:solidFill>
              </a:defRPr>
            </a:pPr>
            <a:r>
              <a:t>Dynamic Lead Masking (M_obs)</a:t>
            </a:r>
          </a:p>
          <a:p>
            <a:pPr>
              <a:spcBef>
                <a:spcPts val="800"/>
              </a:spcBef>
              <a:defRPr sz="1100">
                <a:solidFill>
                  <a:srgbClr val="0F172A"/>
                </a:solidFill>
              </a:defRPr>
            </a:pPr>
            <a:r>
              <a:t>- Stochastic lead masking during training enables arbitrary lead subsets at inference without retraining.</a:t>
            </a:r>
          </a:p>
          <a:p>
            <a:pPr>
              <a:spcBef>
                <a:spcPts val="800"/>
              </a:spcBef>
              <a:defRPr sz="1100">
                <a:solidFill>
                  <a:srgbClr val="0F172A"/>
                </a:solidFill>
              </a:defRPr>
            </a:pPr>
            <a:r>
              <a:t>- Ambulatory screening (Lead I): PTB-XL AF AUROC: 0.952; Macro 150-task AUROC: 0.821.</a:t>
            </a:r>
          </a:p>
          <a:p>
            <a:pPr>
              <a:spcBef>
                <a:spcPts val="800"/>
              </a:spcBef>
              <a:defRPr sz="1100">
                <a:solidFill>
                  <a:srgbClr val="0F172A"/>
                </a:solidFill>
              </a:defRPr>
            </a:pPr>
            <a:r>
              <a:t>- Clinical evaluation (Leads I, II, V2): Orthogonal vertical and horizontal leads resolve dipole ambiguity.</a:t>
            </a:r>
          </a:p>
          <a:p>
            <a:pPr>
              <a:spcBef>
                <a:spcPts val="800"/>
              </a:spcBef>
              <a:defRPr sz="1100">
                <a:solidFill>
                  <a:srgbClr val="0F172A"/>
                </a:solidFill>
              </a:defRPr>
            </a:pPr>
            <a:r>
              <a:t>- Missing lead correlation increases to r = 0.892 - 0.945; QRS duration MAE reduced to 8.12 ms.</a:t>
            </a:r>
          </a:p>
        </p:txBody>
      </p:sp>
      <p:graphicFrame>
        <p:nvGraphicFramePr>
          <p:cNvPr id="7" name="Table 6"/>
          <p:cNvGraphicFramePr>
            <a:graphicFrameLocks noGrp="1"/>
          </p:cNvGraphicFramePr>
          <p:nvPr/>
        </p:nvGraphicFramePr>
        <p:xfrm>
          <a:off x="5486400" y="1645920"/>
          <a:ext cx="5943600" cy="4114800"/>
        </p:xfrm>
        <a:graphic>
          <a:graphicData uri="http://schemas.openxmlformats.org/drawingml/2006/table">
            <a:tbl>
              <a:tblPr firstRow="1" bandRow="1">
                <a:tableStyleId>{5C22544A-7EE6-4342-B048-85BDC9FD1C3A}</a:tableStyleId>
              </a:tblPr>
              <a:tblGrid>
                <a:gridCol w="2468880"/>
                <a:gridCol w="1143000"/>
                <a:gridCol w="1143000"/>
                <a:gridCol w="1188720"/>
              </a:tblGrid>
              <a:tr h="293914">
                <a:tc>
                  <a:txBody>
                    <a:bodyPr/>
                    <a:lstStyle/>
                    <a:p>
                      <a:pPr>
                        <a:defRPr sz="1000" b="1">
                          <a:solidFill>
                            <a:srgbClr val="FFFFFF"/>
                          </a:solidFill>
                          <a:latin typeface="Arial"/>
                        </a:defRPr>
                      </a:pPr>
                      <a:r>
                        <a:t>Cohort &amp; Clinical Metric</a:t>
                      </a:r>
                    </a:p>
                  </a:txBody>
                  <a:tcPr>
                    <a:solidFill>
                      <a:srgbClr val="1E3A8A"/>
                    </a:solidFill>
                  </a:tcPr>
                </a:tc>
                <a:tc>
                  <a:txBody>
                    <a:bodyPr/>
                    <a:lstStyle/>
                    <a:p>
                      <a:pPr>
                        <a:defRPr sz="1000" b="1">
                          <a:solidFill>
                            <a:srgbClr val="FFFFFF"/>
                          </a:solidFill>
                          <a:latin typeface="Arial"/>
                        </a:defRPr>
                      </a:pPr>
                      <a:r>
                        <a:t>Stanford 3DRECON</a:t>
                      </a:r>
                    </a:p>
                  </a:txBody>
                  <a:tcPr>
                    <a:solidFill>
                      <a:srgbClr val="1E3A8A"/>
                    </a:solidFill>
                  </a:tcPr>
                </a:tc>
                <a:tc>
                  <a:txBody>
                    <a:bodyPr/>
                    <a:lstStyle/>
                    <a:p>
                      <a:pPr>
                        <a:defRPr sz="1000" b="1">
                          <a:solidFill>
                            <a:srgbClr val="FFFFFF"/>
                          </a:solidFill>
                          <a:latin typeface="Arial"/>
                        </a:defRPr>
                      </a:pPr>
                      <a:r>
                        <a:t>1-Lead ECG-AIM</a:t>
                      </a:r>
                    </a:p>
                  </a:txBody>
                  <a:tcPr>
                    <a:solidFill>
                      <a:srgbClr val="1E3A8A"/>
                    </a:solidFill>
                  </a:tcPr>
                </a:tc>
                <a:tc>
                  <a:txBody>
                    <a:bodyPr/>
                    <a:lstStyle/>
                    <a:p>
                      <a:pPr>
                        <a:defRPr sz="1000" b="1">
                          <a:solidFill>
                            <a:srgbClr val="FFFFFF"/>
                          </a:solidFill>
                          <a:latin typeface="Arial"/>
                        </a:defRPr>
                      </a:pPr>
                      <a:r>
                        <a:t>3-Lead ECG-AIM</a:t>
                      </a:r>
                    </a:p>
                  </a:txBody>
                  <a:tcPr>
                    <a:solidFill>
                      <a:srgbClr val="1E3A8A"/>
                    </a:solidFill>
                  </a:tcPr>
                </a:tc>
              </a:tr>
              <a:tr h="293914">
                <a:tc>
                  <a:txBody>
                    <a:bodyPr/>
                    <a:lstStyle/>
                    <a:p>
                      <a:pPr>
                        <a:defRPr sz="950" b="1">
                          <a:solidFill>
                            <a:srgbClr val="1E3A8A"/>
                          </a:solidFill>
                          <a:latin typeface="Arial"/>
                        </a:defRPr>
                      </a:pPr>
                      <a:r>
                        <a:t>PTB-XL Foundation (N = 21,799)</a:t>
                      </a:r>
                    </a:p>
                  </a:txBody>
                  <a:tcPr>
                    <a:solidFill>
                      <a:srgbClr val="E2E8F0"/>
                    </a:solidFill>
                  </a:tcPr>
                </a:tc>
                <a:tc>
                  <a:txBody>
                    <a:bodyPr/>
                    <a:lstStyle/>
                    <a:p>
                      <a:pPr>
                        <a:defRPr sz="950" b="1">
                          <a:solidFill>
                            <a:srgbClr val="1E3A8A"/>
                          </a:solidFill>
                          <a:latin typeface="Arial"/>
                        </a:defRPr>
                      </a:pPr>
                    </a:p>
                  </a:txBody>
                  <a:tcPr>
                    <a:solidFill>
                      <a:srgbClr val="E2E8F0"/>
                    </a:solidFill>
                  </a:tcPr>
                </a:tc>
                <a:tc>
                  <a:txBody>
                    <a:bodyPr/>
                    <a:lstStyle/>
                    <a:p>
                      <a:pPr>
                        <a:defRPr sz="950" b="1">
                          <a:solidFill>
                            <a:srgbClr val="1E3A8A"/>
                          </a:solidFill>
                          <a:latin typeface="Arial"/>
                        </a:defRPr>
                      </a:pPr>
                    </a:p>
                  </a:txBody>
                  <a:tcPr>
                    <a:solidFill>
                      <a:srgbClr val="E2E8F0"/>
                    </a:solidFill>
                  </a:tcPr>
                </a:tc>
                <a:tc>
                  <a:txBody>
                    <a:bodyPr/>
                    <a:lstStyle/>
                    <a:p>
                      <a:pPr>
                        <a:defRPr sz="950" b="1">
                          <a:solidFill>
                            <a:srgbClr val="1E3A8A"/>
                          </a:solidFill>
                          <a:latin typeface="Arial"/>
                        </a:defRPr>
                      </a:pPr>
                    </a:p>
                  </a:txBody>
                  <a:tcPr>
                    <a:solidFill>
                      <a:srgbClr val="E2E8F0"/>
                    </a:solidFill>
                  </a:tcPr>
                </a:tc>
              </a:tr>
              <a:tr h="293914">
                <a:tc>
                  <a:txBody>
                    <a:bodyPr/>
                    <a:lstStyle/>
                    <a:p>
                      <a:pPr>
                        <a:defRPr sz="900" b="1">
                          <a:solidFill>
                            <a:srgbClr val="0F172A"/>
                          </a:solidFill>
                          <a:latin typeface="Arial"/>
                        </a:defRPr>
                      </a:pPr>
                      <a:r>
                        <a:t>  ECGFounder 150-Task AUROC</a:t>
                      </a:r>
                    </a:p>
                  </a:txBody>
                  <a:tcPr>
                    <a:solidFill>
                      <a:srgbClr val="FFFFFF"/>
                    </a:solidFill>
                  </a:tcPr>
                </a:tc>
                <a:tc>
                  <a:txBody>
                    <a:bodyPr/>
                    <a:lstStyle/>
                    <a:p>
                      <a:pPr>
                        <a:defRPr sz="900">
                          <a:solidFill>
                            <a:srgbClr val="0F172A"/>
                          </a:solidFill>
                          <a:latin typeface="Arial"/>
                        </a:defRPr>
                      </a:pPr>
                      <a:r>
                        <a:t>0.7720</a:t>
                      </a:r>
                    </a:p>
                  </a:txBody>
                  <a:tcPr>
                    <a:solidFill>
                      <a:srgbClr val="FFFFFF"/>
                    </a:solidFill>
                  </a:tcPr>
                </a:tc>
                <a:tc>
                  <a:txBody>
                    <a:bodyPr/>
                    <a:lstStyle/>
                    <a:p>
                      <a:pPr>
                        <a:defRPr sz="900">
                          <a:solidFill>
                            <a:srgbClr val="0F172A"/>
                          </a:solidFill>
                          <a:latin typeface="Arial"/>
                        </a:defRPr>
                      </a:pPr>
                      <a:r>
                        <a:t>0.8208</a:t>
                      </a:r>
                    </a:p>
                  </a:txBody>
                  <a:tcPr>
                    <a:solidFill>
                      <a:srgbClr val="FFFFFF"/>
                    </a:solidFill>
                  </a:tcPr>
                </a:tc>
                <a:tc>
                  <a:txBody>
                    <a:bodyPr/>
                    <a:lstStyle/>
                    <a:p>
                      <a:pPr>
                        <a:defRPr sz="900" b="1">
                          <a:solidFill>
                            <a:srgbClr val="1E3A8A"/>
                          </a:solidFill>
                          <a:latin typeface="Arial"/>
                        </a:defRPr>
                      </a:pPr>
                      <a:r>
                        <a:t>0.8409</a:t>
                      </a:r>
                    </a:p>
                  </a:txBody>
                  <a:tcPr>
                    <a:solidFill>
                      <a:srgbClr val="FFFFFF"/>
                    </a:solidFill>
                  </a:tcPr>
                </a:tc>
              </a:tr>
              <a:tr h="293914">
                <a:tc>
                  <a:txBody>
                    <a:bodyPr/>
                    <a:lstStyle/>
                    <a:p>
                      <a:pPr>
                        <a:defRPr sz="900" b="1">
                          <a:solidFill>
                            <a:srgbClr val="0F172A"/>
                          </a:solidFill>
                          <a:latin typeface="Arial"/>
                        </a:defRPr>
                      </a:pPr>
                      <a:r>
                        <a:t>  AF Recurrence Detection AUROC</a:t>
                      </a:r>
                    </a:p>
                  </a:txBody>
                  <a:tcPr>
                    <a:solidFill>
                      <a:srgbClr val="F8FAFC"/>
                    </a:solidFill>
                  </a:tcPr>
                </a:tc>
                <a:tc>
                  <a:txBody>
                    <a:bodyPr/>
                    <a:lstStyle/>
                    <a:p>
                      <a:pPr>
                        <a:defRPr sz="900">
                          <a:solidFill>
                            <a:srgbClr val="0F172A"/>
                          </a:solidFill>
                          <a:latin typeface="Arial"/>
                        </a:defRPr>
                      </a:pPr>
                      <a:r>
                        <a:t>0.9140</a:t>
                      </a:r>
                    </a:p>
                  </a:txBody>
                  <a:tcPr>
                    <a:solidFill>
                      <a:srgbClr val="F8FAFC"/>
                    </a:solidFill>
                  </a:tcPr>
                </a:tc>
                <a:tc>
                  <a:txBody>
                    <a:bodyPr/>
                    <a:lstStyle/>
                    <a:p>
                      <a:pPr>
                        <a:defRPr sz="900">
                          <a:solidFill>
                            <a:srgbClr val="0F172A"/>
                          </a:solidFill>
                          <a:latin typeface="Arial"/>
                        </a:defRPr>
                      </a:pPr>
                      <a:r>
                        <a:t>0.9520</a:t>
                      </a:r>
                    </a:p>
                  </a:txBody>
                  <a:tcPr>
                    <a:solidFill>
                      <a:srgbClr val="F8FAFC"/>
                    </a:solidFill>
                  </a:tcPr>
                </a:tc>
                <a:tc>
                  <a:txBody>
                    <a:bodyPr/>
                    <a:lstStyle/>
                    <a:p>
                      <a:pPr>
                        <a:defRPr sz="900" b="1">
                          <a:solidFill>
                            <a:srgbClr val="1E3A8A"/>
                          </a:solidFill>
                          <a:latin typeface="Arial"/>
                        </a:defRPr>
                      </a:pPr>
                      <a:r>
                        <a:t>0.9812</a:t>
                      </a:r>
                    </a:p>
                  </a:txBody>
                  <a:tcPr>
                    <a:solidFill>
                      <a:srgbClr val="F8FAFC"/>
                    </a:solidFill>
                  </a:tcPr>
                </a:tc>
              </a:tr>
              <a:tr h="293914">
                <a:tc>
                  <a:txBody>
                    <a:bodyPr/>
                    <a:lstStyle/>
                    <a:p>
                      <a:pPr>
                        <a:defRPr sz="900" b="1">
                          <a:solidFill>
                            <a:srgbClr val="0F172A"/>
                          </a:solidFill>
                          <a:latin typeface="Arial"/>
                        </a:defRPr>
                      </a:pPr>
                      <a:r>
                        <a:t>  Ventricular Tachycardia AUROC</a:t>
                      </a:r>
                    </a:p>
                  </a:txBody>
                  <a:tcPr>
                    <a:solidFill>
                      <a:srgbClr val="FFFFFF"/>
                    </a:solidFill>
                  </a:tcPr>
                </a:tc>
                <a:tc>
                  <a:txBody>
                    <a:bodyPr/>
                    <a:lstStyle/>
                    <a:p>
                      <a:pPr>
                        <a:defRPr sz="900">
                          <a:solidFill>
                            <a:srgbClr val="0F172A"/>
                          </a:solidFill>
                          <a:latin typeface="Arial"/>
                        </a:defRPr>
                      </a:pPr>
                      <a:r>
                        <a:t>0.8840</a:t>
                      </a:r>
                    </a:p>
                  </a:txBody>
                  <a:tcPr>
                    <a:solidFill>
                      <a:srgbClr val="FFFFFF"/>
                    </a:solidFill>
                  </a:tcPr>
                </a:tc>
                <a:tc>
                  <a:txBody>
                    <a:bodyPr/>
                    <a:lstStyle/>
                    <a:p>
                      <a:pPr>
                        <a:defRPr sz="900">
                          <a:solidFill>
                            <a:srgbClr val="0F172A"/>
                          </a:solidFill>
                          <a:latin typeface="Arial"/>
                        </a:defRPr>
                      </a:pPr>
                      <a:r>
                        <a:t>0.9350</a:t>
                      </a:r>
                    </a:p>
                  </a:txBody>
                  <a:tcPr>
                    <a:solidFill>
                      <a:srgbClr val="FFFFFF"/>
                    </a:solidFill>
                  </a:tcPr>
                </a:tc>
                <a:tc>
                  <a:txBody>
                    <a:bodyPr/>
                    <a:lstStyle/>
                    <a:p>
                      <a:pPr>
                        <a:defRPr sz="900" b="1">
                          <a:solidFill>
                            <a:srgbClr val="1E3A8A"/>
                          </a:solidFill>
                          <a:latin typeface="Arial"/>
                        </a:defRPr>
                      </a:pPr>
                      <a:r>
                        <a:t>0.9894</a:t>
                      </a:r>
                    </a:p>
                  </a:txBody>
                  <a:tcPr>
                    <a:solidFill>
                      <a:srgbClr val="FFFFFF"/>
                    </a:solidFill>
                  </a:tcPr>
                </a:tc>
              </a:tr>
              <a:tr h="293914">
                <a:tc>
                  <a:txBody>
                    <a:bodyPr/>
                    <a:lstStyle/>
                    <a:p>
                      <a:pPr>
                        <a:defRPr sz="900" b="1">
                          <a:solidFill>
                            <a:srgbClr val="0F172A"/>
                          </a:solidFill>
                          <a:latin typeface="Arial"/>
                        </a:defRPr>
                      </a:pPr>
                      <a:r>
                        <a:t>  Conduction Delay (&gt;120ms) Concord.</a:t>
                      </a:r>
                    </a:p>
                  </a:txBody>
                  <a:tcPr>
                    <a:solidFill>
                      <a:srgbClr val="F8FAFC"/>
                    </a:solidFill>
                  </a:tcPr>
                </a:tc>
                <a:tc>
                  <a:txBody>
                    <a:bodyPr/>
                    <a:lstStyle/>
                    <a:p>
                      <a:pPr>
                        <a:defRPr sz="900">
                          <a:solidFill>
                            <a:srgbClr val="0F172A"/>
                          </a:solidFill>
                          <a:latin typeface="Arial"/>
                        </a:defRPr>
                      </a:pPr>
                      <a:r>
                        <a:t>94.3%</a:t>
                      </a:r>
                    </a:p>
                  </a:txBody>
                  <a:tcPr>
                    <a:solidFill>
                      <a:srgbClr val="F8FAFC"/>
                    </a:solidFill>
                  </a:tcPr>
                </a:tc>
                <a:tc>
                  <a:txBody>
                    <a:bodyPr/>
                    <a:lstStyle/>
                    <a:p>
                      <a:pPr>
                        <a:defRPr sz="900">
                          <a:solidFill>
                            <a:srgbClr val="0F172A"/>
                          </a:solidFill>
                          <a:latin typeface="Arial"/>
                        </a:defRPr>
                      </a:pPr>
                      <a:r>
                        <a:t>94.6%</a:t>
                      </a:r>
                    </a:p>
                  </a:txBody>
                  <a:tcPr>
                    <a:solidFill>
                      <a:srgbClr val="F8FAFC"/>
                    </a:solidFill>
                  </a:tcPr>
                </a:tc>
                <a:tc>
                  <a:txBody>
                    <a:bodyPr/>
                    <a:lstStyle/>
                    <a:p>
                      <a:pPr>
                        <a:defRPr sz="900" b="1">
                          <a:solidFill>
                            <a:srgbClr val="1E3A8A"/>
                          </a:solidFill>
                          <a:latin typeface="Arial"/>
                        </a:defRPr>
                      </a:pPr>
                      <a:r>
                        <a:t>96.8%</a:t>
                      </a:r>
                    </a:p>
                  </a:txBody>
                  <a:tcPr>
                    <a:solidFill>
                      <a:srgbClr val="F8FAFC"/>
                    </a:solidFill>
                  </a:tcPr>
                </a:tc>
              </a:tr>
              <a:tr h="293914">
                <a:tc>
                  <a:txBody>
                    <a:bodyPr/>
                    <a:lstStyle/>
                    <a:p>
                      <a:pPr>
                        <a:defRPr sz="900" b="1">
                          <a:solidFill>
                            <a:srgbClr val="0F172A"/>
                          </a:solidFill>
                          <a:latin typeface="Arial"/>
                        </a:defRPr>
                      </a:pPr>
                      <a:r>
                        <a:t>  QRS Duration MAE</a:t>
                      </a:r>
                    </a:p>
                  </a:txBody>
                  <a:tcPr>
                    <a:solidFill>
                      <a:srgbClr val="FFFFFF"/>
                    </a:solidFill>
                  </a:tcPr>
                </a:tc>
                <a:tc>
                  <a:txBody>
                    <a:bodyPr/>
                    <a:lstStyle/>
                    <a:p>
                      <a:pPr>
                        <a:defRPr sz="900">
                          <a:solidFill>
                            <a:srgbClr val="0F172A"/>
                          </a:solidFill>
                          <a:latin typeface="Arial"/>
                        </a:defRPr>
                      </a:pPr>
                      <a:r>
                        <a:t>10.26 ms</a:t>
                      </a:r>
                    </a:p>
                  </a:txBody>
                  <a:tcPr>
                    <a:solidFill>
                      <a:srgbClr val="FFFFFF"/>
                    </a:solidFill>
                  </a:tcPr>
                </a:tc>
                <a:tc>
                  <a:txBody>
                    <a:bodyPr/>
                    <a:lstStyle/>
                    <a:p>
                      <a:pPr>
                        <a:defRPr sz="900">
                          <a:solidFill>
                            <a:srgbClr val="0F172A"/>
                          </a:solidFill>
                          <a:latin typeface="Arial"/>
                        </a:defRPr>
                      </a:pPr>
                      <a:r>
                        <a:t>10.05 ms</a:t>
                      </a:r>
                    </a:p>
                  </a:txBody>
                  <a:tcPr>
                    <a:solidFill>
                      <a:srgbClr val="FFFFFF"/>
                    </a:solidFill>
                  </a:tcPr>
                </a:tc>
                <a:tc>
                  <a:txBody>
                    <a:bodyPr/>
                    <a:lstStyle/>
                    <a:p>
                      <a:pPr>
                        <a:defRPr sz="900" b="1">
                          <a:solidFill>
                            <a:srgbClr val="1E3A8A"/>
                          </a:solidFill>
                          <a:latin typeface="Arial"/>
                        </a:defRPr>
                      </a:pPr>
                      <a:r>
                        <a:t>8.12 ms</a:t>
                      </a:r>
                    </a:p>
                  </a:txBody>
                  <a:tcPr>
                    <a:solidFill>
                      <a:srgbClr val="FFFFFF"/>
                    </a:solidFill>
                  </a:tcPr>
                </a:tc>
              </a:tr>
              <a:tr h="293914">
                <a:tc>
                  <a:txBody>
                    <a:bodyPr/>
                    <a:lstStyle/>
                    <a:p>
                      <a:pPr>
                        <a:defRPr sz="950" b="1">
                          <a:solidFill>
                            <a:srgbClr val="1E3A8A"/>
                          </a:solidFill>
                          <a:latin typeface="Arial"/>
                        </a:defRPr>
                      </a:pPr>
                      <a:r>
                        <a:t>EchoNext Structural (N = 100,000)</a:t>
                      </a:r>
                    </a:p>
                  </a:txBody>
                  <a:tcPr>
                    <a:solidFill>
                      <a:srgbClr val="E2E8F0"/>
                    </a:solidFill>
                  </a:tcPr>
                </a:tc>
                <a:tc>
                  <a:txBody>
                    <a:bodyPr/>
                    <a:lstStyle/>
                    <a:p>
                      <a:pPr>
                        <a:defRPr sz="950" b="1">
                          <a:solidFill>
                            <a:srgbClr val="1E3A8A"/>
                          </a:solidFill>
                          <a:latin typeface="Arial"/>
                        </a:defRPr>
                      </a:pPr>
                    </a:p>
                  </a:txBody>
                  <a:tcPr>
                    <a:solidFill>
                      <a:srgbClr val="E2E8F0"/>
                    </a:solidFill>
                  </a:tcPr>
                </a:tc>
                <a:tc>
                  <a:txBody>
                    <a:bodyPr/>
                    <a:lstStyle/>
                    <a:p>
                      <a:pPr>
                        <a:defRPr sz="950" b="1">
                          <a:solidFill>
                            <a:srgbClr val="1E3A8A"/>
                          </a:solidFill>
                          <a:latin typeface="Arial"/>
                        </a:defRPr>
                      </a:pPr>
                    </a:p>
                  </a:txBody>
                  <a:tcPr>
                    <a:solidFill>
                      <a:srgbClr val="E2E8F0"/>
                    </a:solidFill>
                  </a:tcPr>
                </a:tc>
                <a:tc>
                  <a:txBody>
                    <a:bodyPr/>
                    <a:lstStyle/>
                    <a:p>
                      <a:pPr>
                        <a:defRPr sz="950" b="1">
                          <a:solidFill>
                            <a:srgbClr val="1E3A8A"/>
                          </a:solidFill>
                          <a:latin typeface="Arial"/>
                        </a:defRPr>
                      </a:pPr>
                    </a:p>
                  </a:txBody>
                  <a:tcPr>
                    <a:solidFill>
                      <a:srgbClr val="E2E8F0"/>
                    </a:solidFill>
                  </a:tcPr>
                </a:tc>
              </a:tr>
              <a:tr h="293914">
                <a:tc>
                  <a:txBody>
                    <a:bodyPr/>
                    <a:lstStyle/>
                    <a:p>
                      <a:pPr>
                        <a:defRPr sz="900" b="1">
                          <a:solidFill>
                            <a:srgbClr val="0F172A"/>
                          </a:solidFill>
                          <a:latin typeface="Arial"/>
                        </a:defRPr>
                      </a:pPr>
                      <a:r>
                        <a:t>  12 Deep Phenotypes Macro AUROC</a:t>
                      </a:r>
                    </a:p>
                  </a:txBody>
                  <a:tcPr>
                    <a:solidFill>
                      <a:srgbClr val="FFFFFF"/>
                    </a:solidFill>
                  </a:tcPr>
                </a:tc>
                <a:tc>
                  <a:txBody>
                    <a:bodyPr/>
                    <a:lstStyle/>
                    <a:p>
                      <a:pPr>
                        <a:defRPr sz="900">
                          <a:solidFill>
                            <a:srgbClr val="0F172A"/>
                          </a:solidFill>
                          <a:latin typeface="Arial"/>
                        </a:defRPr>
                      </a:pPr>
                      <a:r>
                        <a:t>0.5890</a:t>
                      </a:r>
                    </a:p>
                  </a:txBody>
                  <a:tcPr>
                    <a:solidFill>
                      <a:srgbClr val="FFFFFF"/>
                    </a:solidFill>
                  </a:tcPr>
                </a:tc>
                <a:tc>
                  <a:txBody>
                    <a:bodyPr/>
                    <a:lstStyle/>
                    <a:p>
                      <a:pPr>
                        <a:defRPr sz="900">
                          <a:solidFill>
                            <a:srgbClr val="0F172A"/>
                          </a:solidFill>
                          <a:latin typeface="Arial"/>
                        </a:defRPr>
                      </a:pPr>
                      <a:r>
                        <a:t>0.7374</a:t>
                      </a:r>
                    </a:p>
                  </a:txBody>
                  <a:tcPr>
                    <a:solidFill>
                      <a:srgbClr val="FFFFFF"/>
                    </a:solidFill>
                  </a:tcPr>
                </a:tc>
                <a:tc>
                  <a:txBody>
                    <a:bodyPr/>
                    <a:lstStyle/>
                    <a:p>
                      <a:pPr>
                        <a:defRPr sz="900" b="1">
                          <a:solidFill>
                            <a:srgbClr val="1E3A8A"/>
                          </a:solidFill>
                          <a:latin typeface="Arial"/>
                        </a:defRPr>
                      </a:pPr>
                      <a:r>
                        <a:t>0.7542</a:t>
                      </a:r>
                    </a:p>
                  </a:txBody>
                  <a:tcPr>
                    <a:solidFill>
                      <a:srgbClr val="FFFFFF"/>
                    </a:solidFill>
                  </a:tcPr>
                </a:tc>
              </a:tr>
              <a:tr h="293914">
                <a:tc>
                  <a:txBody>
                    <a:bodyPr/>
                    <a:lstStyle/>
                    <a:p>
                      <a:pPr>
                        <a:defRPr sz="900" b="1">
                          <a:solidFill>
                            <a:srgbClr val="0F172A"/>
                          </a:solidFill>
                          <a:latin typeface="Arial"/>
                        </a:defRPr>
                      </a:pPr>
                      <a:r>
                        <a:t>  Reduced LVEF (&lt;=45%) Concord.</a:t>
                      </a:r>
                    </a:p>
                  </a:txBody>
                  <a:tcPr>
                    <a:solidFill>
                      <a:srgbClr val="F8FAFC"/>
                    </a:solidFill>
                  </a:tcPr>
                </a:tc>
                <a:tc>
                  <a:txBody>
                    <a:bodyPr/>
                    <a:lstStyle/>
                    <a:p>
                      <a:pPr>
                        <a:defRPr sz="900">
                          <a:solidFill>
                            <a:srgbClr val="0F172A"/>
                          </a:solidFill>
                          <a:latin typeface="Arial"/>
                        </a:defRPr>
                      </a:pPr>
                      <a:r>
                        <a:t>33.3%</a:t>
                      </a:r>
                    </a:p>
                  </a:txBody>
                  <a:tcPr>
                    <a:solidFill>
                      <a:srgbClr val="F8FAFC"/>
                    </a:solidFill>
                  </a:tcPr>
                </a:tc>
                <a:tc>
                  <a:txBody>
                    <a:bodyPr/>
                    <a:lstStyle/>
                    <a:p>
                      <a:pPr>
                        <a:defRPr sz="900">
                          <a:solidFill>
                            <a:srgbClr val="0F172A"/>
                          </a:solidFill>
                          <a:latin typeface="Arial"/>
                        </a:defRPr>
                      </a:pPr>
                      <a:r>
                        <a:t>77.7%</a:t>
                      </a:r>
                    </a:p>
                  </a:txBody>
                  <a:tcPr>
                    <a:solidFill>
                      <a:srgbClr val="F8FAFC"/>
                    </a:solidFill>
                  </a:tcPr>
                </a:tc>
                <a:tc>
                  <a:txBody>
                    <a:bodyPr/>
                    <a:lstStyle/>
                    <a:p>
                      <a:pPr>
                        <a:defRPr sz="900" b="1">
                          <a:solidFill>
                            <a:srgbClr val="1E3A8A"/>
                          </a:solidFill>
                          <a:latin typeface="Arial"/>
                        </a:defRPr>
                      </a:pPr>
                      <a:r>
                        <a:t>81.4%</a:t>
                      </a:r>
                    </a:p>
                  </a:txBody>
                  <a:tcPr>
                    <a:solidFill>
                      <a:srgbClr val="F8FAFC"/>
                    </a:solidFill>
                  </a:tcPr>
                </a:tc>
              </a:tr>
              <a:tr h="293914">
                <a:tc>
                  <a:txBody>
                    <a:bodyPr/>
                    <a:lstStyle/>
                    <a:p>
                      <a:pPr>
                        <a:defRPr sz="900" b="1">
                          <a:solidFill>
                            <a:srgbClr val="0F172A"/>
                          </a:solidFill>
                          <a:latin typeface="Arial"/>
                        </a:defRPr>
                      </a:pPr>
                      <a:r>
                        <a:t>  LV Hypertrophy (&gt;=13mm) Concord.</a:t>
                      </a:r>
                    </a:p>
                  </a:txBody>
                  <a:tcPr>
                    <a:solidFill>
                      <a:srgbClr val="FFFFFF"/>
                    </a:solidFill>
                  </a:tcPr>
                </a:tc>
                <a:tc>
                  <a:txBody>
                    <a:bodyPr/>
                    <a:lstStyle/>
                    <a:p>
                      <a:pPr>
                        <a:defRPr sz="900">
                          <a:solidFill>
                            <a:srgbClr val="0F172A"/>
                          </a:solidFill>
                          <a:latin typeface="Arial"/>
                        </a:defRPr>
                      </a:pPr>
                      <a:r>
                        <a:t>30.2%</a:t>
                      </a:r>
                    </a:p>
                  </a:txBody>
                  <a:tcPr>
                    <a:solidFill>
                      <a:srgbClr val="FFFFFF"/>
                    </a:solidFill>
                  </a:tcPr>
                </a:tc>
                <a:tc>
                  <a:txBody>
                    <a:bodyPr/>
                    <a:lstStyle/>
                    <a:p>
                      <a:pPr>
                        <a:defRPr sz="900">
                          <a:solidFill>
                            <a:srgbClr val="0F172A"/>
                          </a:solidFill>
                          <a:latin typeface="Arial"/>
                        </a:defRPr>
                      </a:pPr>
                      <a:r>
                        <a:t>68.9%</a:t>
                      </a:r>
                    </a:p>
                  </a:txBody>
                  <a:tcPr>
                    <a:solidFill>
                      <a:srgbClr val="FFFFFF"/>
                    </a:solidFill>
                  </a:tcPr>
                </a:tc>
                <a:tc>
                  <a:txBody>
                    <a:bodyPr/>
                    <a:lstStyle/>
                    <a:p>
                      <a:pPr>
                        <a:defRPr sz="900" b="1">
                          <a:solidFill>
                            <a:srgbClr val="1E3A8A"/>
                          </a:solidFill>
                          <a:latin typeface="Arial"/>
                        </a:defRPr>
                      </a:pPr>
                      <a:r>
                        <a:t>73.5%</a:t>
                      </a:r>
                    </a:p>
                  </a:txBody>
                  <a:tcPr>
                    <a:solidFill>
                      <a:srgbClr val="FFFFFF"/>
                    </a:solidFill>
                  </a:tcPr>
                </a:tc>
              </a:tr>
              <a:tr h="293914">
                <a:tc>
                  <a:txBody>
                    <a:bodyPr/>
                    <a:lstStyle/>
                    <a:p>
                      <a:pPr>
                        <a:defRPr sz="950" b="1">
                          <a:solidFill>
                            <a:srgbClr val="1E3A8A"/>
                          </a:solidFill>
                          <a:latin typeface="Arial"/>
                        </a:defRPr>
                      </a:pPr>
                      <a:r>
                        <a:t>Sunnybrook 10-Wire XMLs (N = 20)</a:t>
                      </a:r>
                    </a:p>
                  </a:txBody>
                  <a:tcPr>
                    <a:solidFill>
                      <a:srgbClr val="E2E8F0"/>
                    </a:solidFill>
                  </a:tcPr>
                </a:tc>
                <a:tc>
                  <a:txBody>
                    <a:bodyPr/>
                    <a:lstStyle/>
                    <a:p>
                      <a:pPr>
                        <a:defRPr sz="950" b="1">
                          <a:solidFill>
                            <a:srgbClr val="1E3A8A"/>
                          </a:solidFill>
                          <a:latin typeface="Arial"/>
                        </a:defRPr>
                      </a:pPr>
                    </a:p>
                  </a:txBody>
                  <a:tcPr>
                    <a:solidFill>
                      <a:srgbClr val="E2E8F0"/>
                    </a:solidFill>
                  </a:tcPr>
                </a:tc>
                <a:tc>
                  <a:txBody>
                    <a:bodyPr/>
                    <a:lstStyle/>
                    <a:p>
                      <a:pPr>
                        <a:defRPr sz="950" b="1">
                          <a:solidFill>
                            <a:srgbClr val="1E3A8A"/>
                          </a:solidFill>
                          <a:latin typeface="Arial"/>
                        </a:defRPr>
                      </a:pPr>
                    </a:p>
                  </a:txBody>
                  <a:tcPr>
                    <a:solidFill>
                      <a:srgbClr val="E2E8F0"/>
                    </a:solidFill>
                  </a:tcPr>
                </a:tc>
                <a:tc>
                  <a:txBody>
                    <a:bodyPr/>
                    <a:lstStyle/>
                    <a:p>
                      <a:pPr>
                        <a:defRPr sz="950" b="1">
                          <a:solidFill>
                            <a:srgbClr val="1E3A8A"/>
                          </a:solidFill>
                          <a:latin typeface="Arial"/>
                        </a:defRPr>
                      </a:pPr>
                    </a:p>
                  </a:txBody>
                  <a:tcPr>
                    <a:solidFill>
                      <a:srgbClr val="E2E8F0"/>
                    </a:solidFill>
                  </a:tcPr>
                </a:tc>
              </a:tr>
              <a:tr h="293914">
                <a:tc>
                  <a:txBody>
                    <a:bodyPr/>
                    <a:lstStyle/>
                    <a:p>
                      <a:pPr>
                        <a:defRPr sz="900" b="1">
                          <a:solidFill>
                            <a:srgbClr val="0F172A"/>
                          </a:solidFill>
                          <a:latin typeface="Arial"/>
                        </a:defRPr>
                      </a:pPr>
                      <a:r>
                        <a:t>  Physical Limb Leads</a:t>
                      </a:r>
                    </a:p>
                  </a:txBody>
                  <a:tcPr>
                    <a:solidFill>
                      <a:srgbClr val="FFFFFF"/>
                    </a:solidFill>
                  </a:tcPr>
                </a:tc>
                <a:tc>
                  <a:txBody>
                    <a:bodyPr/>
                    <a:lstStyle/>
                    <a:p>
                      <a:pPr>
                        <a:defRPr sz="900">
                          <a:solidFill>
                            <a:srgbClr val="0F172A"/>
                          </a:solidFill>
                          <a:latin typeface="Arial"/>
                        </a:defRPr>
                      </a:pPr>
                      <a:r>
                        <a:t>Uncalibrated</a:t>
                      </a:r>
                    </a:p>
                  </a:txBody>
                  <a:tcPr>
                    <a:solidFill>
                      <a:srgbClr val="FFFFFF"/>
                    </a:solidFill>
                  </a:tcPr>
                </a:tc>
                <a:tc>
                  <a:txBody>
                    <a:bodyPr/>
                    <a:lstStyle/>
                    <a:p>
                      <a:pPr>
                        <a:defRPr sz="900">
                          <a:solidFill>
                            <a:srgbClr val="0F172A"/>
                          </a:solidFill>
                          <a:latin typeface="Arial"/>
                        </a:defRPr>
                      </a:pPr>
                      <a:r>
                        <a:t>Preserved</a:t>
                      </a:r>
                    </a:p>
                  </a:txBody>
                  <a:tcPr>
                    <a:solidFill>
                      <a:srgbClr val="FFFFFF"/>
                    </a:solidFill>
                  </a:tcPr>
                </a:tc>
                <a:tc>
                  <a:txBody>
                    <a:bodyPr/>
                    <a:lstStyle/>
                    <a:p>
                      <a:pPr>
                        <a:defRPr sz="900" b="1">
                          <a:solidFill>
                            <a:srgbClr val="1E3A8A"/>
                          </a:solidFill>
                          <a:latin typeface="Arial"/>
                        </a:defRPr>
                      </a:pPr>
                      <a:r>
                        <a:t>r = 0.938</a:t>
                      </a:r>
                    </a:p>
                  </a:txBody>
                  <a:tcPr>
                    <a:solidFill>
                      <a:srgbClr val="FFFFFF"/>
                    </a:solidFill>
                  </a:tcPr>
                </a:tc>
              </a:tr>
              <a:tr h="293918">
                <a:tc>
                  <a:txBody>
                    <a:bodyPr/>
                    <a:lstStyle/>
                    <a:p>
                      <a:pPr>
                        <a:defRPr sz="900" b="1">
                          <a:solidFill>
                            <a:srgbClr val="0F172A"/>
                          </a:solidFill>
                          <a:latin typeface="Arial"/>
                        </a:defRPr>
                      </a:pPr>
                      <a:r>
                        <a:t>  Biological Noise Floor (~18 uV)</a:t>
                      </a:r>
                    </a:p>
                  </a:txBody>
                  <a:tcPr>
                    <a:solidFill>
                      <a:srgbClr val="F8FAFC"/>
                    </a:solidFill>
                  </a:tcPr>
                </a:tc>
                <a:tc>
                  <a:txBody>
                    <a:bodyPr/>
                    <a:lstStyle/>
                    <a:p>
                      <a:pPr>
                        <a:defRPr sz="900">
                          <a:solidFill>
                            <a:srgbClr val="0F172A"/>
                          </a:solidFill>
                          <a:latin typeface="Arial"/>
                        </a:defRPr>
                      </a:pPr>
                      <a:r>
                        <a:t>Attenuated</a:t>
                      </a:r>
                    </a:p>
                  </a:txBody>
                  <a:tcPr>
                    <a:solidFill>
                      <a:srgbClr val="F8FAFC"/>
                    </a:solidFill>
                  </a:tcPr>
                </a:tc>
                <a:tc>
                  <a:txBody>
                    <a:bodyPr/>
                    <a:lstStyle/>
                    <a:p>
                      <a:pPr>
                        <a:defRPr sz="900">
                          <a:solidFill>
                            <a:srgbClr val="0F172A"/>
                          </a:solidFill>
                          <a:latin typeface="Arial"/>
                        </a:defRPr>
                      </a:pPr>
                      <a:r>
                        <a:t>Preserved</a:t>
                      </a:r>
                    </a:p>
                  </a:txBody>
                  <a:tcPr>
                    <a:solidFill>
                      <a:srgbClr val="F8FAFC"/>
                    </a:solidFill>
                  </a:tcPr>
                </a:tc>
                <a:tc>
                  <a:txBody>
                    <a:bodyPr/>
                    <a:lstStyle/>
                    <a:p>
                      <a:pPr>
                        <a:defRPr sz="900" b="1">
                          <a:solidFill>
                            <a:srgbClr val="1E3A8A"/>
                          </a:solidFill>
                          <a:latin typeface="Arial"/>
                        </a:defRPr>
                      </a:pPr>
                      <a:r>
                        <a:t>Preserved</a:t>
                      </a:r>
                    </a:p>
                  </a:txBody>
                  <a:tcPr>
                    <a:solidFill>
                      <a:srgbClr val="F8FAFC"/>
                    </a:solidFill>
                  </a:tcPr>
                </a:tc>
              </a:tr>
            </a:tbl>
          </a:graphicData>
        </a:graphic>
      </p:graphicFrame>
      <p:sp>
        <p:nvSpPr>
          <p:cNvPr id="8" name="TextBox 7"/>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A single model adapts to available inputs: single-lead ambulatory screening or 3-lead clinical triage.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Single-Lead Reconstruction: Smartwatch (Lead I) vs. Patch (Lead II)</a:t>
            </a:r>
          </a:p>
          <a:p>
            <a:pPr>
              <a:defRPr sz="1300">
                <a:solidFill>
                  <a:srgbClr val="64748B"/>
                </a:solidFill>
                <a:latin typeface="Arial"/>
              </a:defRPr>
            </a:pPr>
            <a:r>
              <a:t>Reconstruction of PTB-XL Record #10283 from single-channel inputs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11 / 19</a:t>
            </a:r>
          </a:p>
        </p:txBody>
      </p:sp>
      <p:sp>
        <p:nvSpPr>
          <p:cNvPr id="5" name="Rounded Rectangle 4"/>
          <p:cNvSpPr/>
          <p:nvPr/>
        </p:nvSpPr>
        <p:spPr>
          <a:xfrm>
            <a:off x="731520" y="1554480"/>
            <a:ext cx="5212080" cy="429768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none">
            <a:spAutoFit/>
          </a:bodyPr>
          <a:lstStyle/>
          <a:p>
            <a:pPr>
              <a:defRPr sz="1300" b="1">
                <a:solidFill>
                  <a:srgbClr val="1E3A8A"/>
                </a:solidFill>
              </a:defRPr>
            </a:pPr>
            <a:r>
              <a:t>Lead I Input (Transverse Axis)</a:t>
            </a:r>
          </a:p>
        </p:txBody>
      </p:sp>
      <p:pic>
        <p:nvPicPr>
          <p:cNvPr id="7" name="Picture 6" descr="best_ecg_aim_lead1_reconstruction.png"/>
          <p:cNvPicPr>
            <a:picLocks noChangeAspect="1"/>
          </p:cNvPicPr>
          <p:nvPr/>
        </p:nvPicPr>
        <p:blipFill>
          <a:blip r:embed="rId2"/>
          <a:stretch>
            <a:fillRect/>
          </a:stretch>
        </p:blipFill>
        <p:spPr>
          <a:xfrm>
            <a:off x="868680" y="1965960"/>
            <a:ext cx="4937760" cy="2560320"/>
          </a:xfrm>
          <a:prstGeom prst="rect">
            <a:avLst/>
          </a:prstGeom>
        </p:spPr>
      </p:pic>
      <p:sp>
        <p:nvSpPr>
          <p:cNvPr id="8" name="TextBox 7"/>
          <p:cNvSpPr txBox="1"/>
          <p:nvPr/>
        </p:nvSpPr>
        <p:spPr>
          <a:xfrm>
            <a:off x="914400" y="4617720"/>
            <a:ext cx="4846320" cy="1188720"/>
          </a:xfrm>
          <a:prstGeom prst="rect">
            <a:avLst/>
          </a:prstGeom>
          <a:noFill/>
        </p:spPr>
        <p:txBody>
          <a:bodyPr wrap="square">
            <a:spAutoFit/>
          </a:bodyPr>
          <a:lstStyle/>
          <a:p>
            <a:pPr>
              <a:spcBef>
                <a:spcPts val="300"/>
              </a:spcBef>
              <a:defRPr sz="1000">
                <a:solidFill>
                  <a:srgbClr val="0F172A"/>
                </a:solidFill>
              </a:defRPr>
            </a:pPr>
            <a:r>
              <a:t>- Single-channel input: Lead I (wrist-to-wrist vector).</a:t>
            </a:r>
          </a:p>
          <a:p>
            <a:pPr>
              <a:spcBef>
                <a:spcPts val="300"/>
              </a:spcBef>
              <a:defRPr sz="1000">
                <a:solidFill>
                  <a:srgbClr val="0F172A"/>
                </a:solidFill>
              </a:defRPr>
            </a:pPr>
            <a:r>
              <a:t>- 11 reconstructed leads yield mean r = 0.941.</a:t>
            </a:r>
          </a:p>
          <a:p>
            <a:pPr>
              <a:spcBef>
                <a:spcPts val="300"/>
              </a:spcBef>
              <a:defRPr sz="1000">
                <a:solidFill>
                  <a:srgbClr val="0F172A"/>
                </a:solidFill>
              </a:defRPr>
            </a:pPr>
            <a:r>
              <a:t>- Precordial correlation: V1 (r=0.995), V2 (r=0.989), V3 (r=0.988).</a:t>
            </a:r>
          </a:p>
        </p:txBody>
      </p:sp>
      <p:sp>
        <p:nvSpPr>
          <p:cNvPr id="9" name="Rounded Rectangle 8"/>
          <p:cNvSpPr/>
          <p:nvPr/>
        </p:nvSpPr>
        <p:spPr>
          <a:xfrm>
            <a:off x="6217920" y="1554480"/>
            <a:ext cx="5212080" cy="429768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20040"/>
          </a:xfrm>
          <a:prstGeom prst="rect">
            <a:avLst/>
          </a:prstGeom>
          <a:noFill/>
        </p:spPr>
        <p:txBody>
          <a:bodyPr wrap="none">
            <a:spAutoFit/>
          </a:bodyPr>
          <a:lstStyle/>
          <a:p>
            <a:pPr>
              <a:defRPr sz="1300" b="1">
                <a:solidFill>
                  <a:srgbClr val="0284C7"/>
                </a:solidFill>
              </a:defRPr>
            </a:pPr>
            <a:r>
              <a:t>Lead II Input (Vertical Axis)</a:t>
            </a:r>
          </a:p>
        </p:txBody>
      </p:sp>
      <p:pic>
        <p:nvPicPr>
          <p:cNvPr id="11" name="Picture 10" descr="best_ecg_aim_1lead_reconstruction.png"/>
          <p:cNvPicPr>
            <a:picLocks noChangeAspect="1"/>
          </p:cNvPicPr>
          <p:nvPr/>
        </p:nvPicPr>
        <p:blipFill>
          <a:blip r:embed="rId3"/>
          <a:stretch>
            <a:fillRect/>
          </a:stretch>
        </p:blipFill>
        <p:spPr>
          <a:xfrm>
            <a:off x="6355080" y="1965960"/>
            <a:ext cx="4937760" cy="2560320"/>
          </a:xfrm>
          <a:prstGeom prst="rect">
            <a:avLst/>
          </a:prstGeom>
        </p:spPr>
      </p:pic>
      <p:sp>
        <p:nvSpPr>
          <p:cNvPr id="12" name="TextBox 11"/>
          <p:cNvSpPr txBox="1"/>
          <p:nvPr/>
        </p:nvSpPr>
        <p:spPr>
          <a:xfrm>
            <a:off x="6400800" y="4617720"/>
            <a:ext cx="4846320" cy="1188720"/>
          </a:xfrm>
          <a:prstGeom prst="rect">
            <a:avLst/>
          </a:prstGeom>
          <a:noFill/>
        </p:spPr>
        <p:txBody>
          <a:bodyPr wrap="square">
            <a:spAutoFit/>
          </a:bodyPr>
          <a:lstStyle/>
          <a:p>
            <a:pPr>
              <a:spcBef>
                <a:spcPts val="300"/>
              </a:spcBef>
              <a:defRPr sz="1000">
                <a:solidFill>
                  <a:srgbClr val="0F172A"/>
                </a:solidFill>
              </a:defRPr>
            </a:pPr>
            <a:r>
              <a:t>- Single-channel input: Lead II (vertical torso vector).</a:t>
            </a:r>
          </a:p>
          <a:p>
            <a:pPr>
              <a:spcBef>
                <a:spcPts val="300"/>
              </a:spcBef>
              <a:defRPr sz="1000">
                <a:solidFill>
                  <a:srgbClr val="0F172A"/>
                </a:solidFill>
              </a:defRPr>
            </a:pPr>
            <a:r>
              <a:t>- 11 reconstructed leads yield mean r = 0.919.</a:t>
            </a:r>
          </a:p>
          <a:p>
            <a:pPr>
              <a:spcBef>
                <a:spcPts val="300"/>
              </a:spcBef>
              <a:defRPr sz="1000">
                <a:solidFill>
                  <a:srgbClr val="0F172A"/>
                </a:solidFill>
              </a:defRPr>
            </a:pPr>
            <a:r>
              <a:t>- Inferior leads: aVF (r=0.992), III (r=0.963), V2 (r=0.966).</a:t>
            </a:r>
          </a:p>
        </p:txBody>
      </p:sp>
      <p:sp>
        <p:nvSpPr>
          <p:cNvPr id="13" name="TextBox 12"/>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Lead I input provides strong anterior precordial recovery (r &gt; 0.98), whereas Lead II prioritizes inferior leads.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Impact of Input Dimension: 1-Lead vs. 3-Lead Input</a:t>
            </a:r>
          </a:p>
          <a:p>
            <a:pPr>
              <a:defRPr sz="1300">
                <a:solidFill>
                  <a:srgbClr val="64748B"/>
                </a:solidFill>
                <a:latin typeface="Arial"/>
              </a:defRPr>
            </a:pPr>
            <a:r>
              <a:t>Reconstruction of PTB-XL Record #10283 under single-lead and 3-lead configurations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12 / 19</a:t>
            </a:r>
          </a:p>
        </p:txBody>
      </p:sp>
      <p:sp>
        <p:nvSpPr>
          <p:cNvPr id="5" name="Rounded Rectangle 4"/>
          <p:cNvSpPr/>
          <p:nvPr/>
        </p:nvSpPr>
        <p:spPr>
          <a:xfrm>
            <a:off x="731520" y="1554480"/>
            <a:ext cx="5212080" cy="429768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none">
            <a:spAutoFit/>
          </a:bodyPr>
          <a:lstStyle/>
          <a:p>
            <a:pPr>
              <a:defRPr sz="1300" b="1">
                <a:solidFill>
                  <a:srgbClr val="1E3A8A"/>
                </a:solidFill>
              </a:defRPr>
            </a:pPr>
            <a:r>
              <a:t>Single-Lead Input (Lead I)</a:t>
            </a:r>
          </a:p>
        </p:txBody>
      </p:sp>
      <p:pic>
        <p:nvPicPr>
          <p:cNvPr id="7" name="Picture 6" descr="best_ecg_aim_lead1_reconstruction.png"/>
          <p:cNvPicPr>
            <a:picLocks noChangeAspect="1"/>
          </p:cNvPicPr>
          <p:nvPr/>
        </p:nvPicPr>
        <p:blipFill>
          <a:blip r:embed="rId2"/>
          <a:stretch>
            <a:fillRect/>
          </a:stretch>
        </p:blipFill>
        <p:spPr>
          <a:xfrm>
            <a:off x="868680" y="1965960"/>
            <a:ext cx="4937760" cy="2560320"/>
          </a:xfrm>
          <a:prstGeom prst="rect">
            <a:avLst/>
          </a:prstGeom>
        </p:spPr>
      </p:pic>
      <p:sp>
        <p:nvSpPr>
          <p:cNvPr id="8" name="TextBox 7"/>
          <p:cNvSpPr txBox="1"/>
          <p:nvPr/>
        </p:nvSpPr>
        <p:spPr>
          <a:xfrm>
            <a:off x="914400" y="4617720"/>
            <a:ext cx="4846320" cy="1188720"/>
          </a:xfrm>
          <a:prstGeom prst="rect">
            <a:avLst/>
          </a:prstGeom>
          <a:noFill/>
        </p:spPr>
        <p:txBody>
          <a:bodyPr wrap="square">
            <a:spAutoFit/>
          </a:bodyPr>
          <a:lstStyle/>
          <a:p>
            <a:pPr>
              <a:spcBef>
                <a:spcPts val="300"/>
              </a:spcBef>
              <a:defRPr sz="1000">
                <a:solidFill>
                  <a:srgbClr val="0F172A"/>
                </a:solidFill>
              </a:defRPr>
            </a:pPr>
            <a:r>
              <a:t>- Single-channel input: Lead I.</a:t>
            </a:r>
          </a:p>
          <a:p>
            <a:pPr>
              <a:spcBef>
                <a:spcPts val="300"/>
              </a:spcBef>
              <a:defRPr sz="1000">
                <a:solidFill>
                  <a:srgbClr val="0F172A"/>
                </a:solidFill>
              </a:defRPr>
            </a:pPr>
            <a:r>
              <a:t>- 11 reconstructed leads yield mean r = 0.941.</a:t>
            </a:r>
          </a:p>
          <a:p>
            <a:pPr>
              <a:spcBef>
                <a:spcPts val="300"/>
              </a:spcBef>
              <a:defRPr sz="1000">
                <a:solidFill>
                  <a:srgbClr val="0F172A"/>
                </a:solidFill>
              </a:defRPr>
            </a:pPr>
            <a:r>
              <a:t>- Designed for continuous ambulatory surveillance.</a:t>
            </a:r>
          </a:p>
        </p:txBody>
      </p:sp>
      <p:sp>
        <p:nvSpPr>
          <p:cNvPr id="9" name="Rounded Rectangle 8"/>
          <p:cNvSpPr/>
          <p:nvPr/>
        </p:nvSpPr>
        <p:spPr>
          <a:xfrm>
            <a:off x="6217920" y="1554480"/>
            <a:ext cx="5212080" cy="429768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20040"/>
          </a:xfrm>
          <a:prstGeom prst="rect">
            <a:avLst/>
          </a:prstGeom>
          <a:noFill/>
        </p:spPr>
        <p:txBody>
          <a:bodyPr wrap="none">
            <a:spAutoFit/>
          </a:bodyPr>
          <a:lstStyle/>
          <a:p>
            <a:pPr>
              <a:defRPr sz="1300" b="1">
                <a:solidFill>
                  <a:srgbClr val="0284C7"/>
                </a:solidFill>
              </a:defRPr>
            </a:pPr>
            <a:r>
              <a:t>Three-Lead Input (I, II, V2)</a:t>
            </a:r>
          </a:p>
        </p:txBody>
      </p:sp>
      <p:pic>
        <p:nvPicPr>
          <p:cNvPr id="11" name="Picture 10" descr="best_ecg_aim_12lead_reconstruction.png"/>
          <p:cNvPicPr>
            <a:picLocks noChangeAspect="1"/>
          </p:cNvPicPr>
          <p:nvPr/>
        </p:nvPicPr>
        <p:blipFill>
          <a:blip r:embed="rId3"/>
          <a:stretch>
            <a:fillRect/>
          </a:stretch>
        </p:blipFill>
        <p:spPr>
          <a:xfrm>
            <a:off x="6355080" y="1965960"/>
            <a:ext cx="4937760" cy="2560320"/>
          </a:xfrm>
          <a:prstGeom prst="rect">
            <a:avLst/>
          </a:prstGeom>
        </p:spPr>
      </p:pic>
      <p:sp>
        <p:nvSpPr>
          <p:cNvPr id="12" name="TextBox 11"/>
          <p:cNvSpPr txBox="1"/>
          <p:nvPr/>
        </p:nvSpPr>
        <p:spPr>
          <a:xfrm>
            <a:off x="6400800" y="4617720"/>
            <a:ext cx="4846320" cy="1188720"/>
          </a:xfrm>
          <a:prstGeom prst="rect">
            <a:avLst/>
          </a:prstGeom>
          <a:noFill/>
        </p:spPr>
        <p:txBody>
          <a:bodyPr wrap="square">
            <a:spAutoFit/>
          </a:bodyPr>
          <a:lstStyle/>
          <a:p>
            <a:pPr>
              <a:spcBef>
                <a:spcPts val="300"/>
              </a:spcBef>
              <a:defRPr sz="1000">
                <a:solidFill>
                  <a:srgbClr val="0F172A"/>
                </a:solidFill>
              </a:defRPr>
            </a:pPr>
            <a:r>
              <a:t>- Three-channel input: orthogonal triad (I, II, V2).</a:t>
            </a:r>
          </a:p>
          <a:p>
            <a:pPr>
              <a:spcBef>
                <a:spcPts val="300"/>
              </a:spcBef>
              <a:defRPr sz="1000">
                <a:solidFill>
                  <a:srgbClr val="0F172A"/>
                </a:solidFill>
              </a:defRPr>
            </a:pPr>
            <a:r>
              <a:t>- 9 reconstructed leads yield r = 0.980 - 1.000.</a:t>
            </a:r>
          </a:p>
          <a:p>
            <a:pPr>
              <a:spcBef>
                <a:spcPts val="300"/>
              </a:spcBef>
              <a:defRPr sz="1000">
                <a:solidFill>
                  <a:srgbClr val="0F172A"/>
                </a:solidFill>
              </a:defRPr>
            </a:pPr>
            <a:r>
              <a:t>- Limb completion: r = 1.000; QRS MAE = 8.12 ms.</a:t>
            </a:r>
          </a:p>
        </p:txBody>
      </p:sp>
      <p:sp>
        <p:nvSpPr>
          <p:cNvPr id="13" name="TextBox 12"/>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Adding two orthogonal leads (II and V2) constrains both planes, improving precordial and limb fidelity.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External Cohort Validation: Sunnybrook In-Clinic XMLs</a:t>
            </a:r>
          </a:p>
          <a:p>
            <a:pPr>
              <a:defRPr sz="1300">
                <a:solidFill>
                  <a:srgbClr val="64748B"/>
                </a:solidFill>
                <a:latin typeface="Arial"/>
              </a:defRPr>
            </a:pPr>
            <a:r>
              <a:t>Zero-shot evaluation on Record ECG004 under 1-lead and 3-lead configurations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13 / 19</a:t>
            </a:r>
          </a:p>
        </p:txBody>
      </p:sp>
      <p:sp>
        <p:nvSpPr>
          <p:cNvPr id="5" name="Rounded Rectangle 4"/>
          <p:cNvSpPr/>
          <p:nvPr/>
        </p:nvSpPr>
        <p:spPr>
          <a:xfrm>
            <a:off x="731520" y="1554480"/>
            <a:ext cx="5212080" cy="429768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none">
            <a:spAutoFit/>
          </a:bodyPr>
          <a:lstStyle/>
          <a:p>
            <a:pPr>
              <a:defRPr sz="1300" b="1">
                <a:solidFill>
                  <a:srgbClr val="1E3A8A"/>
                </a:solidFill>
              </a:defRPr>
            </a:pPr>
            <a:r>
              <a:t>Single-Lead Input (Lead I)</a:t>
            </a:r>
          </a:p>
        </p:txBody>
      </p:sp>
      <p:pic>
        <p:nvPicPr>
          <p:cNvPr id="7" name="Picture 6" descr="sunnybrook_best_reconstruction_1lead.png"/>
          <p:cNvPicPr>
            <a:picLocks noChangeAspect="1"/>
          </p:cNvPicPr>
          <p:nvPr/>
        </p:nvPicPr>
        <p:blipFill>
          <a:blip r:embed="rId2"/>
          <a:stretch>
            <a:fillRect/>
          </a:stretch>
        </p:blipFill>
        <p:spPr>
          <a:xfrm>
            <a:off x="868680" y="1965960"/>
            <a:ext cx="4937760" cy="2560320"/>
          </a:xfrm>
          <a:prstGeom prst="rect">
            <a:avLst/>
          </a:prstGeom>
        </p:spPr>
      </p:pic>
      <p:sp>
        <p:nvSpPr>
          <p:cNvPr id="8" name="TextBox 7"/>
          <p:cNvSpPr txBox="1"/>
          <p:nvPr/>
        </p:nvSpPr>
        <p:spPr>
          <a:xfrm>
            <a:off x="914400" y="4617720"/>
            <a:ext cx="4846320" cy="1188720"/>
          </a:xfrm>
          <a:prstGeom prst="rect">
            <a:avLst/>
          </a:prstGeom>
          <a:noFill/>
        </p:spPr>
        <p:txBody>
          <a:bodyPr wrap="square">
            <a:spAutoFit/>
          </a:bodyPr>
          <a:lstStyle/>
          <a:p>
            <a:pPr>
              <a:spcBef>
                <a:spcPts val="300"/>
              </a:spcBef>
              <a:defRPr sz="1000">
                <a:solidFill>
                  <a:srgbClr val="0F172A"/>
                </a:solidFill>
              </a:defRPr>
            </a:pPr>
            <a:r>
              <a:t>- Single-channel input: Einthoven Lead I.</a:t>
            </a:r>
          </a:p>
          <a:p>
            <a:pPr>
              <a:spcBef>
                <a:spcPts val="300"/>
              </a:spcBef>
              <a:defRPr sz="1000">
                <a:solidFill>
                  <a:srgbClr val="0F172A"/>
                </a:solidFill>
              </a:defRPr>
            </a:pPr>
            <a:r>
              <a:t>- 11 reconstructed leads yield mean r = 0.865.</a:t>
            </a:r>
          </a:p>
          <a:p>
            <a:pPr>
              <a:spcBef>
                <a:spcPts val="300"/>
              </a:spcBef>
              <a:defRPr sz="1000">
                <a:solidFill>
                  <a:srgbClr val="0F172A"/>
                </a:solidFill>
              </a:defRPr>
            </a:pPr>
            <a:r>
              <a:t>- Selected leads: aVR (r=0.966), V5 (r=0.934), V6 (r=0.929), II (r=0.925).</a:t>
            </a:r>
          </a:p>
        </p:txBody>
      </p:sp>
      <p:sp>
        <p:nvSpPr>
          <p:cNvPr id="9" name="Rounded Rectangle 8"/>
          <p:cNvSpPr/>
          <p:nvPr/>
        </p:nvSpPr>
        <p:spPr>
          <a:xfrm>
            <a:off x="6217920" y="1554480"/>
            <a:ext cx="5212080" cy="429768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20040"/>
          </a:xfrm>
          <a:prstGeom prst="rect">
            <a:avLst/>
          </a:prstGeom>
          <a:noFill/>
        </p:spPr>
        <p:txBody>
          <a:bodyPr wrap="none">
            <a:spAutoFit/>
          </a:bodyPr>
          <a:lstStyle/>
          <a:p>
            <a:pPr>
              <a:defRPr sz="1300" b="1">
                <a:solidFill>
                  <a:srgbClr val="0284C7"/>
                </a:solidFill>
              </a:defRPr>
            </a:pPr>
            <a:r>
              <a:t>Three-Lead Input (I, II, V2)</a:t>
            </a:r>
          </a:p>
        </p:txBody>
      </p:sp>
      <p:pic>
        <p:nvPicPr>
          <p:cNvPr id="11" name="Picture 10" descr="sunnybrook_best_reconstruction_3lead.png"/>
          <p:cNvPicPr>
            <a:picLocks noChangeAspect="1"/>
          </p:cNvPicPr>
          <p:nvPr/>
        </p:nvPicPr>
        <p:blipFill>
          <a:blip r:embed="rId3"/>
          <a:stretch>
            <a:fillRect/>
          </a:stretch>
        </p:blipFill>
        <p:spPr>
          <a:xfrm>
            <a:off x="6355080" y="1965960"/>
            <a:ext cx="4937760" cy="2560320"/>
          </a:xfrm>
          <a:prstGeom prst="rect">
            <a:avLst/>
          </a:prstGeom>
        </p:spPr>
      </p:pic>
      <p:sp>
        <p:nvSpPr>
          <p:cNvPr id="12" name="TextBox 11"/>
          <p:cNvSpPr txBox="1"/>
          <p:nvPr/>
        </p:nvSpPr>
        <p:spPr>
          <a:xfrm>
            <a:off x="6400800" y="4617720"/>
            <a:ext cx="4846320" cy="1188720"/>
          </a:xfrm>
          <a:prstGeom prst="rect">
            <a:avLst/>
          </a:prstGeom>
          <a:noFill/>
        </p:spPr>
        <p:txBody>
          <a:bodyPr wrap="square">
            <a:spAutoFit/>
          </a:bodyPr>
          <a:lstStyle/>
          <a:p>
            <a:pPr>
              <a:spcBef>
                <a:spcPts val="300"/>
              </a:spcBef>
              <a:defRPr sz="1000">
                <a:solidFill>
                  <a:srgbClr val="0F172A"/>
                </a:solidFill>
              </a:defRPr>
            </a:pPr>
            <a:r>
              <a:t>- Three-channel input: orthogonal triad (Leads I, II, V2).</a:t>
            </a:r>
          </a:p>
          <a:p>
            <a:pPr>
              <a:spcBef>
                <a:spcPts val="300"/>
              </a:spcBef>
              <a:defRPr sz="1000">
                <a:solidFill>
                  <a:srgbClr val="0F172A"/>
                </a:solidFill>
              </a:defRPr>
            </a:pPr>
            <a:r>
              <a:t>- 9 reconstructed leads yield mean r = 0.938.</a:t>
            </a:r>
          </a:p>
          <a:p>
            <a:pPr>
              <a:spcBef>
                <a:spcPts val="300"/>
              </a:spcBef>
              <a:defRPr sz="1000">
                <a:solidFill>
                  <a:srgbClr val="0F172A"/>
                </a:solidFill>
              </a:defRPr>
            </a:pPr>
            <a:r>
              <a:t>- Limb completion: r = 1.000; precordials: V1 (r=0.973), V6 (r=0.957).</a:t>
            </a:r>
          </a:p>
        </p:txBody>
      </p:sp>
      <p:sp>
        <p:nvSpPr>
          <p:cNvPr id="13" name="TextBox 12"/>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Zero-shot evaluation on in-clinic XMLs preserves physiological amplitude (&gt; 2.1 mV in V2) without recalibration.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External Cohort Validation: EchoNext Structural Cohort</a:t>
            </a:r>
          </a:p>
          <a:p>
            <a:pPr>
              <a:defRPr sz="1300">
                <a:solidFill>
                  <a:srgbClr val="64748B"/>
                </a:solidFill>
                <a:latin typeface="Arial"/>
              </a:defRPr>
            </a:pPr>
            <a:r>
              <a:t>Zero-shot evaluation on Record #10 under 1-lead and 3-lead configurations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14 / 19</a:t>
            </a:r>
          </a:p>
        </p:txBody>
      </p:sp>
      <p:sp>
        <p:nvSpPr>
          <p:cNvPr id="5" name="Rounded Rectangle 4"/>
          <p:cNvSpPr/>
          <p:nvPr/>
        </p:nvSpPr>
        <p:spPr>
          <a:xfrm>
            <a:off x="731520" y="1554480"/>
            <a:ext cx="5212080" cy="429768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none">
            <a:spAutoFit/>
          </a:bodyPr>
          <a:lstStyle/>
          <a:p>
            <a:pPr>
              <a:defRPr sz="1300" b="1">
                <a:solidFill>
                  <a:srgbClr val="1E3A8A"/>
                </a:solidFill>
              </a:defRPr>
            </a:pPr>
            <a:r>
              <a:t>Single-Lead Input (Lead I)</a:t>
            </a:r>
          </a:p>
        </p:txBody>
      </p:sp>
      <p:pic>
        <p:nvPicPr>
          <p:cNvPr id="7" name="Picture 6" descr="echonext_best_reconstruction_1lead.png"/>
          <p:cNvPicPr>
            <a:picLocks noChangeAspect="1"/>
          </p:cNvPicPr>
          <p:nvPr/>
        </p:nvPicPr>
        <p:blipFill>
          <a:blip r:embed="rId2"/>
          <a:stretch>
            <a:fillRect/>
          </a:stretch>
        </p:blipFill>
        <p:spPr>
          <a:xfrm>
            <a:off x="868680" y="1965960"/>
            <a:ext cx="4937760" cy="2560320"/>
          </a:xfrm>
          <a:prstGeom prst="rect">
            <a:avLst/>
          </a:prstGeom>
        </p:spPr>
      </p:pic>
      <p:sp>
        <p:nvSpPr>
          <p:cNvPr id="8" name="TextBox 7"/>
          <p:cNvSpPr txBox="1"/>
          <p:nvPr/>
        </p:nvSpPr>
        <p:spPr>
          <a:xfrm>
            <a:off x="914400" y="4617720"/>
            <a:ext cx="4846320" cy="1188720"/>
          </a:xfrm>
          <a:prstGeom prst="rect">
            <a:avLst/>
          </a:prstGeom>
          <a:noFill/>
        </p:spPr>
        <p:txBody>
          <a:bodyPr wrap="square">
            <a:spAutoFit/>
          </a:bodyPr>
          <a:lstStyle/>
          <a:p>
            <a:pPr>
              <a:spcBef>
                <a:spcPts val="300"/>
              </a:spcBef>
              <a:defRPr sz="1000">
                <a:solidFill>
                  <a:srgbClr val="0F172A"/>
                </a:solidFill>
              </a:defRPr>
            </a:pPr>
            <a:r>
              <a:t>- Single-channel input: Lead I.</a:t>
            </a:r>
          </a:p>
          <a:p>
            <a:pPr>
              <a:spcBef>
                <a:spcPts val="300"/>
              </a:spcBef>
              <a:defRPr sz="1000">
                <a:solidFill>
                  <a:srgbClr val="0F172A"/>
                </a:solidFill>
              </a:defRPr>
            </a:pPr>
            <a:r>
              <a:t>- 11 reconstructed leads yield mean r = 0.809.</a:t>
            </a:r>
          </a:p>
          <a:p>
            <a:pPr>
              <a:spcBef>
                <a:spcPts val="300"/>
              </a:spcBef>
              <a:defRPr sz="1000">
                <a:solidFill>
                  <a:srgbClr val="0F172A"/>
                </a:solidFill>
              </a:defRPr>
            </a:pPr>
            <a:r>
              <a:t>- Selected leads: aVR (r=0.967), aVL (r=0.946), V1 (r=0.942), V5 (r=0.915).</a:t>
            </a:r>
          </a:p>
        </p:txBody>
      </p:sp>
      <p:sp>
        <p:nvSpPr>
          <p:cNvPr id="9" name="Rounded Rectangle 8"/>
          <p:cNvSpPr/>
          <p:nvPr/>
        </p:nvSpPr>
        <p:spPr>
          <a:xfrm>
            <a:off x="6217920" y="1554480"/>
            <a:ext cx="5212080" cy="429768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46320" cy="320040"/>
          </a:xfrm>
          <a:prstGeom prst="rect">
            <a:avLst/>
          </a:prstGeom>
          <a:noFill/>
        </p:spPr>
        <p:txBody>
          <a:bodyPr wrap="none">
            <a:spAutoFit/>
          </a:bodyPr>
          <a:lstStyle/>
          <a:p>
            <a:pPr>
              <a:defRPr sz="1300" b="1">
                <a:solidFill>
                  <a:srgbClr val="0284C7"/>
                </a:solidFill>
              </a:defRPr>
            </a:pPr>
            <a:r>
              <a:t>Three-Lead Input (I, II, V2)</a:t>
            </a:r>
          </a:p>
        </p:txBody>
      </p:sp>
      <p:pic>
        <p:nvPicPr>
          <p:cNvPr id="11" name="Picture 10" descr="echonext_best_reconstruction_3lead.png"/>
          <p:cNvPicPr>
            <a:picLocks noChangeAspect="1"/>
          </p:cNvPicPr>
          <p:nvPr/>
        </p:nvPicPr>
        <p:blipFill>
          <a:blip r:embed="rId3"/>
          <a:stretch>
            <a:fillRect/>
          </a:stretch>
        </p:blipFill>
        <p:spPr>
          <a:xfrm>
            <a:off x="6355080" y="1965960"/>
            <a:ext cx="4937760" cy="2560320"/>
          </a:xfrm>
          <a:prstGeom prst="rect">
            <a:avLst/>
          </a:prstGeom>
        </p:spPr>
      </p:pic>
      <p:sp>
        <p:nvSpPr>
          <p:cNvPr id="12" name="TextBox 11"/>
          <p:cNvSpPr txBox="1"/>
          <p:nvPr/>
        </p:nvSpPr>
        <p:spPr>
          <a:xfrm>
            <a:off x="6400800" y="4617720"/>
            <a:ext cx="4846320" cy="1188720"/>
          </a:xfrm>
          <a:prstGeom prst="rect">
            <a:avLst/>
          </a:prstGeom>
          <a:noFill/>
        </p:spPr>
        <p:txBody>
          <a:bodyPr wrap="square">
            <a:spAutoFit/>
          </a:bodyPr>
          <a:lstStyle/>
          <a:p>
            <a:pPr>
              <a:spcBef>
                <a:spcPts val="300"/>
              </a:spcBef>
              <a:defRPr sz="1000">
                <a:solidFill>
                  <a:srgbClr val="0F172A"/>
                </a:solidFill>
              </a:defRPr>
            </a:pPr>
            <a:r>
              <a:t>- Three-channel input: orthogonal triad (Leads I, II, V2).</a:t>
            </a:r>
          </a:p>
          <a:p>
            <a:pPr>
              <a:spcBef>
                <a:spcPts val="300"/>
              </a:spcBef>
              <a:defRPr sz="1000">
                <a:solidFill>
                  <a:srgbClr val="0F172A"/>
                </a:solidFill>
              </a:defRPr>
            </a:pPr>
            <a:r>
              <a:t>- 9 reconstructed leads yield mean r = 0.964.</a:t>
            </a:r>
          </a:p>
          <a:p>
            <a:pPr>
              <a:spcBef>
                <a:spcPts val="300"/>
              </a:spcBef>
              <a:defRPr sz="1000">
                <a:solidFill>
                  <a:srgbClr val="0F172A"/>
                </a:solidFill>
              </a:defRPr>
            </a:pPr>
            <a:r>
              <a:t>- Limb completion: r = 0.986 - 1.000; precordials: V1 (r=0.987), V6 (r=0.965).</a:t>
            </a:r>
          </a:p>
        </p:txBody>
      </p:sp>
      <p:sp>
        <p:nvSpPr>
          <p:cNvPr id="13" name="TextBox 12"/>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Preserves ventricular waveforms on echo-paired tracings (Record #10: peak voltages 0.9 - 1.4 mV; LVEF concordance 81.4%).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Data Collection Methodology: Dual-Stream Protocol</a:t>
            </a:r>
          </a:p>
          <a:p>
            <a:pPr>
              <a:defRPr sz="1300">
                <a:solidFill>
                  <a:srgbClr val="64748B"/>
                </a:solidFill>
                <a:latin typeface="Arial"/>
              </a:defRPr>
            </a:pPr>
            <a:r>
              <a:t>Ambulatory monitoring and in-clinic paired acquisition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15 / 19</a:t>
            </a:r>
          </a:p>
        </p:txBody>
      </p:sp>
      <p:sp>
        <p:nvSpPr>
          <p:cNvPr id="5" name="Rounded Rectangle 4"/>
          <p:cNvSpPr/>
          <p:nvPr/>
        </p:nvSpPr>
        <p:spPr>
          <a:xfrm>
            <a:off x="731520" y="1645920"/>
            <a:ext cx="521208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3749039"/>
          </a:xfrm>
          <a:prstGeom prst="rect">
            <a:avLst/>
          </a:prstGeom>
          <a:noFill/>
        </p:spPr>
        <p:txBody>
          <a:bodyPr wrap="square">
            <a:spAutoFit/>
          </a:bodyPr>
          <a:lstStyle/>
          <a:p>
            <a:pPr>
              <a:defRPr sz="1600" b="1">
                <a:solidFill>
                  <a:srgbClr val="1E3A8A"/>
                </a:solidFill>
              </a:defRPr>
            </a:pPr>
            <a:r>
              <a:t>Stream A: Ambulatory Surveillance</a:t>
            </a:r>
          </a:p>
          <a:p>
            <a:pPr>
              <a:spcBef>
                <a:spcPts val="800"/>
              </a:spcBef>
              <a:defRPr sz="1200">
                <a:solidFill>
                  <a:srgbClr val="0F172A"/>
                </a:solidFill>
              </a:defRPr>
            </a:pPr>
            <a:r>
              <a:t>- Daily 30-second smartwatch ECG (Lead I) for 6 months post-ablation.</a:t>
            </a:r>
          </a:p>
          <a:p>
            <a:pPr>
              <a:spcBef>
                <a:spcPts val="800"/>
              </a:spcBef>
              <a:defRPr sz="1200">
                <a:solidFill>
                  <a:srgbClr val="0F172A"/>
                </a:solidFill>
              </a:defRPr>
            </a:pPr>
            <a:r>
              <a:t>- 14-day continuous CardioSTAT patch worn at 3 and 6 months.</a:t>
            </a:r>
          </a:p>
          <a:p>
            <a:pPr>
              <a:spcBef>
                <a:spcPts val="800"/>
              </a:spcBef>
              <a:defRPr sz="1200">
                <a:solidFill>
                  <a:srgbClr val="0F172A"/>
                </a:solidFill>
              </a:defRPr>
            </a:pPr>
            <a:r>
              <a:t>- Primary trial endpoints: time to AF recurrence, AF burden, and symptom correlation.</a:t>
            </a:r>
          </a:p>
          <a:p>
            <a:pPr>
              <a:spcBef>
                <a:spcPts val="800"/>
              </a:spcBef>
              <a:defRPr sz="1200">
                <a:solidFill>
                  <a:srgbClr val="0F172A"/>
                </a:solidFill>
              </a:defRPr>
            </a:pPr>
            <a:r>
              <a:t>- Automated data transmission to Sunnybrook secure study server.</a:t>
            </a:r>
          </a:p>
        </p:txBody>
      </p:sp>
      <p:sp>
        <p:nvSpPr>
          <p:cNvPr id="7" name="Rounded Rectangle 6"/>
          <p:cNvSpPr/>
          <p:nvPr/>
        </p:nvSpPr>
        <p:spPr>
          <a:xfrm>
            <a:off x="6217920" y="1645920"/>
            <a:ext cx="5212080" cy="41148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3749039"/>
          </a:xfrm>
          <a:prstGeom prst="rect">
            <a:avLst/>
          </a:prstGeom>
          <a:noFill/>
        </p:spPr>
        <p:txBody>
          <a:bodyPr wrap="square">
            <a:spAutoFit/>
          </a:bodyPr>
          <a:lstStyle/>
          <a:p>
            <a:pPr>
              <a:defRPr sz="1600" b="1">
                <a:solidFill>
                  <a:srgbClr val="0284C7"/>
                </a:solidFill>
              </a:defRPr>
            </a:pPr>
            <a:r>
              <a:t>Stream B: In-Clinic Paired Protocol</a:t>
            </a:r>
          </a:p>
          <a:p>
            <a:pPr>
              <a:spcBef>
                <a:spcPts val="800"/>
              </a:spcBef>
              <a:defRPr sz="1200">
                <a:solidFill>
                  <a:srgbClr val="0F172A"/>
                </a:solidFill>
              </a:defRPr>
            </a:pPr>
            <a:r>
              <a:t>- Four scheduled clinical visits: baseline, post-procedure, 3 months, and 6 months.</a:t>
            </a:r>
          </a:p>
          <a:p>
            <a:pPr>
              <a:spcBef>
                <a:spcPts val="800"/>
              </a:spcBef>
              <a:defRPr sz="1200">
                <a:solidFill>
                  <a:srgbClr val="0F172A"/>
                </a:solidFill>
              </a:defRPr>
            </a:pPr>
            <a:r>
              <a:t>- Simultaneous recording of 12-lead ECG and smartwatch Lead I (delta t = 0).</a:t>
            </a:r>
          </a:p>
          <a:p>
            <a:pPr>
              <a:spcBef>
                <a:spcPts val="800"/>
              </a:spcBef>
              <a:defRPr sz="1200">
                <a:solidFill>
                  <a:srgbClr val="0F172A"/>
                </a:solidFill>
              </a:defRPr>
            </a:pPr>
            <a:r>
              <a:t>- Standardized acquisition adds &lt;= 5 minutes to routine visit.</a:t>
            </a:r>
          </a:p>
          <a:p>
            <a:pPr>
              <a:spcBef>
                <a:spcPts val="800"/>
              </a:spcBef>
              <a:defRPr sz="1200">
                <a:solidFill>
                  <a:srgbClr val="0F172A"/>
                </a:solidFill>
              </a:defRPr>
            </a:pPr>
            <a:r>
              <a:t>- Requires no additional clinic visits or invasive procedures.</a:t>
            </a:r>
          </a:p>
        </p:txBody>
      </p:sp>
      <p:sp>
        <p:nvSpPr>
          <p:cNvPr id="9" name="TextBox 8"/>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Stream A fulfills primary trial objectives; Stream B provides synchronous paired data for secondary analysis.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Paired In-Clinic Dataset Design</a:t>
            </a:r>
          </a:p>
          <a:p>
            <a:pPr>
              <a:defRPr sz="1300">
                <a:solidFill>
                  <a:srgbClr val="64748B"/>
                </a:solidFill>
                <a:latin typeface="Arial"/>
              </a:defRPr>
            </a:pPr>
            <a:r>
              <a:t>Comparison with prior retrospective evaluations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16 / 19</a:t>
            </a:r>
          </a:p>
        </p:txBody>
      </p:sp>
      <p:graphicFrame>
        <p:nvGraphicFramePr>
          <p:cNvPr id="5" name="Table 4"/>
          <p:cNvGraphicFramePr>
            <a:graphicFrameLocks noGrp="1"/>
          </p:cNvGraphicFramePr>
          <p:nvPr/>
        </p:nvGraphicFramePr>
        <p:xfrm>
          <a:off x="731520" y="1645920"/>
          <a:ext cx="10698480" cy="3474720"/>
        </p:xfrm>
        <a:graphic>
          <a:graphicData uri="http://schemas.openxmlformats.org/drawingml/2006/table">
            <a:tbl>
              <a:tblPr firstRow="1" bandRow="1">
                <a:tableStyleId>{5C22544A-7EE6-4342-B048-85BDC9FD1C3A}</a:tableStyleId>
              </a:tblPr>
              <a:tblGrid>
                <a:gridCol w="2468880"/>
                <a:gridCol w="4114800"/>
                <a:gridCol w="4114800"/>
              </a:tblGrid>
              <a:tr h="579120">
                <a:tc>
                  <a:txBody>
                    <a:bodyPr/>
                    <a:lstStyle/>
                    <a:p>
                      <a:pPr>
                        <a:defRPr sz="1100" b="1">
                          <a:solidFill>
                            <a:srgbClr val="FFFFFF"/>
                          </a:solidFill>
                          <a:latin typeface="Arial"/>
                        </a:defRPr>
                      </a:pPr>
                      <a:r>
                        <a:t>Methodological Dimension</a:t>
                      </a:r>
                    </a:p>
                  </a:txBody>
                  <a:tcPr>
                    <a:solidFill>
                      <a:srgbClr val="1E3A8A"/>
                    </a:solidFill>
                  </a:tcPr>
                </a:tc>
                <a:tc>
                  <a:txBody>
                    <a:bodyPr/>
                    <a:lstStyle/>
                    <a:p>
                      <a:pPr>
                        <a:defRPr sz="1100" b="1">
                          <a:solidFill>
                            <a:srgbClr val="FFFFFF"/>
                          </a:solidFill>
                          <a:latin typeface="Arial"/>
                        </a:defRPr>
                      </a:pPr>
                      <a:r>
                        <a:t>Ansari et al. (2026)</a:t>
                      </a:r>
                    </a:p>
                  </a:txBody>
                  <a:tcPr>
                    <a:solidFill>
                      <a:srgbClr val="1E3A8A"/>
                    </a:solidFill>
                  </a:tcPr>
                </a:tc>
                <a:tc>
                  <a:txBody>
                    <a:bodyPr/>
                    <a:lstStyle/>
                    <a:p>
                      <a:pPr>
                        <a:defRPr sz="1100" b="1">
                          <a:solidFill>
                            <a:srgbClr val="FFFFFF"/>
                          </a:solidFill>
                          <a:latin typeface="Arial"/>
                        </a:defRPr>
                      </a:pPr>
                      <a:r>
                        <a:t>Sunnybrook Prospective Protocol</a:t>
                      </a:r>
                    </a:p>
                  </a:txBody>
                  <a:tcPr>
                    <a:solidFill>
                      <a:srgbClr val="1E3A8A"/>
                    </a:solidFill>
                  </a:tcPr>
                </a:tc>
              </a:tr>
              <a:tr h="579120">
                <a:tc>
                  <a:txBody>
                    <a:bodyPr/>
                    <a:lstStyle/>
                    <a:p>
                      <a:pPr>
                        <a:defRPr sz="1100" b="1">
                          <a:solidFill>
                            <a:srgbClr val="0F172A"/>
                          </a:solidFill>
                          <a:latin typeface="Arial"/>
                        </a:defRPr>
                      </a:pPr>
                      <a:r>
                        <a:t>Evaluation Cohort</a:t>
                      </a:r>
                    </a:p>
                  </a:txBody>
                  <a:tcPr>
                    <a:solidFill>
                      <a:srgbClr val="F8FAFC"/>
                    </a:solidFill>
                  </a:tcPr>
                </a:tc>
                <a:tc>
                  <a:txBody>
                    <a:bodyPr/>
                    <a:lstStyle/>
                    <a:p>
                      <a:pPr>
                        <a:defRPr sz="1100">
                          <a:solidFill>
                            <a:srgbClr val="0F172A"/>
                          </a:solidFill>
                          <a:latin typeface="Arial"/>
                        </a:defRPr>
                      </a:pPr>
                      <a:r>
                        <a:t>Retrospective CareLink archive (N = 26)</a:t>
                      </a:r>
                    </a:p>
                  </a:txBody>
                  <a:tcPr>
                    <a:solidFill>
                      <a:srgbClr val="F8FAFC"/>
                    </a:solidFill>
                  </a:tcPr>
                </a:tc>
                <a:tc>
                  <a:txBody>
                    <a:bodyPr/>
                    <a:lstStyle/>
                    <a:p>
                      <a:pPr>
                        <a:defRPr sz="1100">
                          <a:solidFill>
                            <a:srgbClr val="0F172A"/>
                          </a:solidFill>
                          <a:latin typeface="Arial"/>
                        </a:defRPr>
                      </a:pPr>
                      <a:r>
                        <a:t>Prospective cohort (N = 96 patients, ~384 paired visits)</a:t>
                      </a:r>
                    </a:p>
                  </a:txBody>
                  <a:tcPr>
                    <a:solidFill>
                      <a:srgbClr val="F8FAFC"/>
                    </a:solidFill>
                  </a:tcPr>
                </a:tc>
              </a:tr>
              <a:tr h="579120">
                <a:tc>
                  <a:txBody>
                    <a:bodyPr/>
                    <a:lstStyle/>
                    <a:p>
                      <a:pPr>
                        <a:defRPr sz="1100" b="1">
                          <a:solidFill>
                            <a:srgbClr val="0F172A"/>
                          </a:solidFill>
                          <a:latin typeface="Arial"/>
                        </a:defRPr>
                      </a:pPr>
                      <a:r>
                        <a:t>Temporal Offset</a:t>
                      </a:r>
                    </a:p>
                  </a:txBody>
                  <a:tcPr>
                    <a:solidFill>
                      <a:srgbClr val="FFFFFF"/>
                    </a:solidFill>
                  </a:tcPr>
                </a:tc>
                <a:tc>
                  <a:txBody>
                    <a:bodyPr/>
                    <a:lstStyle/>
                    <a:p>
                      <a:pPr>
                        <a:defRPr sz="1100">
                          <a:solidFill>
                            <a:srgbClr val="0F172A"/>
                          </a:solidFill>
                          <a:latin typeface="Arial"/>
                        </a:defRPr>
                      </a:pPr>
                      <a:r>
                        <a:t>+/- 7 days between device and 12-lead ECG</a:t>
                      </a:r>
                    </a:p>
                  </a:txBody>
                  <a:tcPr>
                    <a:solidFill>
                      <a:srgbClr val="FFFFFF"/>
                    </a:solidFill>
                  </a:tcPr>
                </a:tc>
                <a:tc>
                  <a:txBody>
                    <a:bodyPr/>
                    <a:lstStyle/>
                    <a:p>
                      <a:pPr>
                        <a:defRPr sz="1100">
                          <a:solidFill>
                            <a:srgbClr val="0F172A"/>
                          </a:solidFill>
                          <a:latin typeface="Arial"/>
                        </a:defRPr>
                      </a:pPr>
                      <a:r>
                        <a:t>Synchronous acquisition (delta t = 0, simultaneous)</a:t>
                      </a:r>
                    </a:p>
                  </a:txBody>
                  <a:tcPr>
                    <a:solidFill>
                      <a:srgbClr val="FFFFFF"/>
                    </a:solidFill>
                  </a:tcPr>
                </a:tc>
              </a:tr>
              <a:tr h="579120">
                <a:tc>
                  <a:txBody>
                    <a:bodyPr/>
                    <a:lstStyle/>
                    <a:p>
                      <a:pPr>
                        <a:defRPr sz="1100" b="1">
                          <a:solidFill>
                            <a:srgbClr val="0F172A"/>
                          </a:solidFill>
                          <a:latin typeface="Arial"/>
                        </a:defRPr>
                      </a:pPr>
                      <a:r>
                        <a:t>Physiological State</a:t>
                      </a:r>
                    </a:p>
                  </a:txBody>
                  <a:tcPr>
                    <a:solidFill>
                      <a:srgbClr val="F8FAFC"/>
                    </a:solidFill>
                  </a:tcPr>
                </a:tc>
                <a:tc>
                  <a:txBody>
                    <a:bodyPr/>
                    <a:lstStyle/>
                    <a:p>
                      <a:pPr>
                        <a:defRPr sz="1100">
                          <a:solidFill>
                            <a:srgbClr val="0F172A"/>
                          </a:solidFill>
                          <a:latin typeface="Arial"/>
                        </a:defRPr>
                      </a:pPr>
                      <a:r>
                        <a:t>Uncontrolled variations in hydration and medication</a:t>
                      </a:r>
                    </a:p>
                  </a:txBody>
                  <a:tcPr>
                    <a:solidFill>
                      <a:srgbClr val="F8FAFC"/>
                    </a:solidFill>
                  </a:tcPr>
                </a:tc>
                <a:tc>
                  <a:txBody>
                    <a:bodyPr/>
                    <a:lstStyle/>
                    <a:p>
                      <a:pPr>
                        <a:defRPr sz="1100">
                          <a:solidFill>
                            <a:srgbClr val="0F172A"/>
                          </a:solidFill>
                          <a:latin typeface="Arial"/>
                        </a:defRPr>
                      </a:pPr>
                      <a:r>
                        <a:t>Identical resting state (supine, matched heart rate)</a:t>
                      </a:r>
                    </a:p>
                  </a:txBody>
                  <a:tcPr>
                    <a:solidFill>
                      <a:srgbClr val="F8FAFC"/>
                    </a:solidFill>
                  </a:tcPr>
                </a:tc>
              </a:tr>
              <a:tr h="579120">
                <a:tc>
                  <a:txBody>
                    <a:bodyPr/>
                    <a:lstStyle/>
                    <a:p>
                      <a:pPr>
                        <a:defRPr sz="1100" b="1">
                          <a:solidFill>
                            <a:srgbClr val="0F172A"/>
                          </a:solidFill>
                          <a:latin typeface="Arial"/>
                        </a:defRPr>
                      </a:pPr>
                      <a:r>
                        <a:t>Rhythm States</a:t>
                      </a:r>
                    </a:p>
                  </a:txBody>
                  <a:tcPr>
                    <a:solidFill>
                      <a:srgbClr val="FFFFFF"/>
                    </a:solidFill>
                  </a:tcPr>
                </a:tc>
                <a:tc>
                  <a:txBody>
                    <a:bodyPr/>
                    <a:lstStyle/>
                    <a:p>
                      <a:pPr>
                        <a:defRPr sz="1100">
                          <a:solidFill>
                            <a:srgbClr val="0F172A"/>
                          </a:solidFill>
                          <a:latin typeface="Arial"/>
                        </a:defRPr>
                      </a:pPr>
                      <a:r>
                        <a:t>Uncontrolled outpatient recordings</a:t>
                      </a:r>
                    </a:p>
                  </a:txBody>
                  <a:tcPr>
                    <a:solidFill>
                      <a:srgbClr val="FFFFFF"/>
                    </a:solidFill>
                  </a:tcPr>
                </a:tc>
                <a:tc>
                  <a:txBody>
                    <a:bodyPr/>
                    <a:lstStyle/>
                    <a:p>
                      <a:pPr>
                        <a:defRPr sz="1100">
                          <a:solidFill>
                            <a:srgbClr val="0F172A"/>
                          </a:solidFill>
                          <a:latin typeface="Arial"/>
                        </a:defRPr>
                      </a:pPr>
                      <a:r>
                        <a:t>Defined clinical milestones (baseline AF, post-procedure, follow-up)</a:t>
                      </a:r>
                    </a:p>
                  </a:txBody>
                  <a:tcPr>
                    <a:solidFill>
                      <a:srgbClr val="FFFFFF"/>
                    </a:solidFill>
                  </a:tcPr>
                </a:tc>
              </a:tr>
              <a:tr h="579120">
                <a:tc>
                  <a:txBody>
                    <a:bodyPr/>
                    <a:lstStyle/>
                    <a:p>
                      <a:pPr>
                        <a:defRPr sz="1100" b="1">
                          <a:solidFill>
                            <a:srgbClr val="0F172A"/>
                          </a:solidFill>
                          <a:latin typeface="Arial"/>
                        </a:defRPr>
                      </a:pPr>
                      <a:r>
                        <a:t>Methodological Role</a:t>
                      </a:r>
                    </a:p>
                  </a:txBody>
                  <a:tcPr>
                    <a:solidFill>
                      <a:srgbClr val="F8FAFC"/>
                    </a:solidFill>
                  </a:tcPr>
                </a:tc>
                <a:tc>
                  <a:txBody>
                    <a:bodyPr/>
                    <a:lstStyle/>
                    <a:p>
                      <a:pPr>
                        <a:defRPr sz="1100">
                          <a:solidFill>
                            <a:srgbClr val="0F172A"/>
                          </a:solidFill>
                          <a:latin typeface="Arial"/>
                        </a:defRPr>
                      </a:pPr>
                      <a:r>
                        <a:t>Device-specific feasibility check</a:t>
                      </a:r>
                    </a:p>
                  </a:txBody>
                  <a:tcPr>
                    <a:solidFill>
                      <a:srgbClr val="F8FAFC"/>
                    </a:solidFill>
                  </a:tcPr>
                </a:tc>
                <a:tc>
                  <a:txBody>
                    <a:bodyPr/>
                    <a:lstStyle/>
                    <a:p>
                      <a:pPr>
                        <a:defRPr sz="1100">
                          <a:solidFill>
                            <a:srgbClr val="0F172A"/>
                          </a:solidFill>
                          <a:latin typeface="Arial"/>
                        </a:defRPr>
                      </a:pPr>
                      <a:r>
                        <a:t>Prospective benchmark for domain adaptation and prior models</a:t>
                      </a:r>
                    </a:p>
                  </a:txBody>
                  <a:tcPr>
                    <a:solidFill>
                      <a:srgbClr val="F8FAFC"/>
                    </a:solidFill>
                  </a:tcPr>
                </a:tc>
              </a:tr>
            </a:tbl>
          </a:graphicData>
        </a:graphic>
      </p:graphicFrame>
      <p:sp>
        <p:nvSpPr>
          <p:cNvPr id="6" name="Rounded Rectangle 5"/>
          <p:cNvSpPr/>
          <p:nvPr/>
        </p:nvSpPr>
        <p:spPr>
          <a:xfrm>
            <a:off x="731520" y="5303520"/>
            <a:ext cx="10698480" cy="914400"/>
          </a:xfrm>
          <a:prstGeom prst="roundRect">
            <a:avLst/>
          </a:prstGeom>
          <a:solidFill>
            <a:srgbClr val="F8FAFC"/>
          </a:solidFill>
          <a:ln w="1905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94960"/>
            <a:ext cx="10332720" cy="731520"/>
          </a:xfrm>
          <a:prstGeom prst="rect">
            <a:avLst/>
          </a:prstGeom>
          <a:noFill/>
        </p:spPr>
        <p:txBody>
          <a:bodyPr wrap="none">
            <a:spAutoFit/>
          </a:bodyPr>
          <a:lstStyle/>
          <a:p>
            <a:pPr>
              <a:defRPr sz="1100" b="1">
                <a:solidFill>
                  <a:srgbClr val="15803D"/>
                </a:solidFill>
              </a:defRPr>
            </a:pPr>
            <a:r>
              <a:t>Significance of Prospective Paired Data: Most published ECG reconstruction studies evaluate models on synthetically masked 12-lead recordings. Synthetic masking does not account for dry-electrode interfaces, skin impedance, or wearable filtering. Synchronous in-clinic acquisition provides an empirical standard for evaluating wearable reconstruction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Figure 3: Integrated Clinical-AI Trial Pipeline</a:t>
            </a:r>
          </a:p>
          <a:p>
            <a:pPr>
              <a:defRPr sz="1300">
                <a:solidFill>
                  <a:srgbClr val="64748B"/>
                </a:solidFill>
                <a:latin typeface="Arial"/>
              </a:defRPr>
            </a:pPr>
            <a:r>
              <a:t>Trial workflow and computational integration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17 / 19</a:t>
            </a:r>
          </a:p>
        </p:txBody>
      </p:sp>
      <p:pic>
        <p:nvPicPr>
          <p:cNvPr id="5" name="Picture 4" descr="paired_trial_model_integration.png"/>
          <p:cNvPicPr>
            <a:picLocks noChangeAspect="1"/>
          </p:cNvPicPr>
          <p:nvPr/>
        </p:nvPicPr>
        <p:blipFill>
          <a:blip r:embed="rId2"/>
          <a:stretch>
            <a:fillRect/>
          </a:stretch>
        </p:blipFill>
        <p:spPr>
          <a:xfrm>
            <a:off x="731520" y="1645920"/>
            <a:ext cx="5669280" cy="4480560"/>
          </a:xfrm>
          <a:prstGeom prst="rect">
            <a:avLst/>
          </a:prstGeom>
        </p:spPr>
      </p:pic>
      <p:sp>
        <p:nvSpPr>
          <p:cNvPr id="6" name="Rounded Rectangle 5"/>
          <p:cNvSpPr/>
          <p:nvPr/>
        </p:nvSpPr>
        <p:spPr>
          <a:xfrm>
            <a:off x="6675120" y="1645920"/>
            <a:ext cx="475488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737360"/>
            <a:ext cx="4389120" cy="4297680"/>
          </a:xfrm>
          <a:prstGeom prst="rect">
            <a:avLst/>
          </a:prstGeom>
          <a:noFill/>
        </p:spPr>
        <p:txBody>
          <a:bodyPr wrap="square">
            <a:spAutoFit/>
          </a:bodyPr>
          <a:lstStyle/>
          <a:p>
            <a:pPr>
              <a:defRPr sz="1400" b="1">
                <a:solidFill>
                  <a:srgbClr val="1E3A8A"/>
                </a:solidFill>
              </a:defRPr>
            </a:pPr>
            <a:r>
              <a:t>Integration Stages</a:t>
            </a:r>
          </a:p>
          <a:p>
            <a:pPr>
              <a:spcBef>
                <a:spcPts val="800"/>
              </a:spcBef>
              <a:defRPr sz="1100">
                <a:solidFill>
                  <a:srgbClr val="0F172A"/>
                </a:solidFill>
              </a:defRPr>
            </a:pPr>
            <a:r>
              <a:t>- Pretraining on public cohorts (PTB-XL, MIMIC-IV, Icentia11k) to establish baseline representations.</a:t>
            </a:r>
          </a:p>
          <a:p>
            <a:pPr>
              <a:spcBef>
                <a:spcPts val="800"/>
              </a:spcBef>
              <a:defRPr sz="1100">
                <a:solidFill>
                  <a:srgbClr val="0F172A"/>
                </a:solidFill>
              </a:defRPr>
            </a:pPr>
            <a:r>
              <a:t>- Data acquisition across three streams: smartwatch daily rhythm and in-clinic paired Lead I; 14-day continuous CardioSTAT patch; hospital 12-lead machine.</a:t>
            </a:r>
          </a:p>
          <a:p>
            <a:pPr>
              <a:spcBef>
                <a:spcPts val="800"/>
              </a:spcBef>
              <a:defRPr sz="1100">
                <a:solidFill>
                  <a:srgbClr val="0F172A"/>
                </a:solidFill>
              </a:defRPr>
            </a:pPr>
            <a:r>
              <a:t>- Hardware transfer function estimation and adapter calibration on paired recordings.</a:t>
            </a:r>
          </a:p>
          <a:p>
            <a:pPr>
              <a:spcBef>
                <a:spcPts val="800"/>
              </a:spcBef>
              <a:defRPr sz="1100">
                <a:solidFill>
                  <a:srgbClr val="0F172A"/>
                </a:solidFill>
              </a:defRPr>
            </a:pPr>
            <a:r>
              <a:t>- Evaluation on distinct endpoints: primary AF recurrence and burden vs. CardioSTAT patch; secondary 12-lead reconstruction and repolarization tracking.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Sample Size, Statistical Power &amp; Clustered Modeling</a:t>
            </a:r>
          </a:p>
          <a:p>
            <a:pPr>
              <a:defRPr sz="1300">
                <a:solidFill>
                  <a:srgbClr val="64748B"/>
                </a:solidFill>
                <a:latin typeface="Arial"/>
              </a:defRPr>
            </a:pPr>
            <a:r>
              <a:t>Sample size justification and statistical analysis plan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18 / 19</a:t>
            </a:r>
          </a:p>
        </p:txBody>
      </p:sp>
      <p:sp>
        <p:nvSpPr>
          <p:cNvPr id="5" name="Rounded Rectangle 4"/>
          <p:cNvSpPr/>
          <p:nvPr/>
        </p:nvSpPr>
        <p:spPr>
          <a:xfrm>
            <a:off x="731520" y="1645920"/>
            <a:ext cx="521208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3749039"/>
          </a:xfrm>
          <a:prstGeom prst="rect">
            <a:avLst/>
          </a:prstGeom>
          <a:noFill/>
        </p:spPr>
        <p:txBody>
          <a:bodyPr wrap="square">
            <a:spAutoFit/>
          </a:bodyPr>
          <a:lstStyle/>
          <a:p>
            <a:pPr>
              <a:defRPr sz="1600" b="1">
                <a:solidFill>
                  <a:srgbClr val="1E3A8A"/>
                </a:solidFill>
              </a:defRPr>
            </a:pPr>
            <a:r>
              <a:t>Primary Clinical Power (Protocol v1.1)</a:t>
            </a:r>
          </a:p>
          <a:p>
            <a:pPr>
              <a:spcBef>
                <a:spcPts val="600"/>
              </a:spcBef>
              <a:defRPr sz="1150">
                <a:solidFill>
                  <a:srgbClr val="0F172A"/>
                </a:solidFill>
              </a:defRPr>
            </a:pPr>
            <a:r>
              <a:t>- Primary outcome: time to confirmed AF recurrence.</a:t>
            </a:r>
          </a:p>
          <a:p>
            <a:pPr>
              <a:spcBef>
                <a:spcPts val="600"/>
              </a:spcBef>
              <a:defRPr sz="1150">
                <a:solidFill>
                  <a:srgbClr val="0F172A"/>
                </a:solidFill>
              </a:defRPr>
            </a:pPr>
            <a:r>
              <a:t>- Hypothesis: smartwatch surveillance is non-inferior to 14-day patch monitoring.</a:t>
            </a:r>
          </a:p>
          <a:p>
            <a:pPr>
              <a:spcBef>
                <a:spcPts val="600"/>
              </a:spcBef>
              <a:defRPr sz="1150">
                <a:solidFill>
                  <a:srgbClr val="0F172A"/>
                </a:solidFill>
              </a:defRPr>
            </a:pPr>
            <a:r>
              <a:t>- Event rate assumptions: 20% recurrence with patch, 25% with smartwatch.</a:t>
            </a:r>
          </a:p>
          <a:p>
            <a:pPr>
              <a:spcBef>
                <a:spcPts val="600"/>
              </a:spcBef>
              <a:defRPr sz="1150">
                <a:solidFill>
                  <a:srgbClr val="0F172A"/>
                </a:solidFill>
              </a:defRPr>
            </a:pPr>
            <a:r>
              <a:t>- Target power: 80% power, alpha = 0.05, 10% non-inferiority margin (N = 96 patients).</a:t>
            </a:r>
          </a:p>
          <a:p>
            <a:pPr>
              <a:spcBef>
                <a:spcPts val="600"/>
              </a:spcBef>
              <a:defRPr sz="1150">
                <a:solidFill>
                  <a:srgbClr val="0F172A"/>
                </a:solidFill>
              </a:defRPr>
            </a:pPr>
            <a:r>
              <a:t>- Vanguard phase: initial 20 consecutive patients to evaluate workflow feasibility.</a:t>
            </a:r>
          </a:p>
        </p:txBody>
      </p:sp>
      <p:sp>
        <p:nvSpPr>
          <p:cNvPr id="7" name="Rounded Rectangle 6"/>
          <p:cNvSpPr/>
          <p:nvPr/>
        </p:nvSpPr>
        <p:spPr>
          <a:xfrm>
            <a:off x="6217920" y="1645920"/>
            <a:ext cx="5212080" cy="41148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3749039"/>
          </a:xfrm>
          <a:prstGeom prst="rect">
            <a:avLst/>
          </a:prstGeom>
          <a:noFill/>
        </p:spPr>
        <p:txBody>
          <a:bodyPr wrap="square">
            <a:spAutoFit/>
          </a:bodyPr>
          <a:lstStyle/>
          <a:p>
            <a:pPr>
              <a:defRPr sz="1600" b="1">
                <a:solidFill>
                  <a:srgbClr val="0284C7"/>
                </a:solidFill>
              </a:defRPr>
            </a:pPr>
            <a:r>
              <a:t>Secondary AI Precision &amp; Analysis Plan</a:t>
            </a:r>
          </a:p>
          <a:p>
            <a:pPr>
              <a:spcBef>
                <a:spcPts val="600"/>
              </a:spcBef>
              <a:defRPr sz="1150">
                <a:solidFill>
                  <a:srgbClr val="0F172A"/>
                </a:solidFill>
              </a:defRPr>
            </a:pPr>
            <a:r>
              <a:t>- Sample yield: 96 patients across 4 clinic visits provides &gt;2,500 paired complexes.</a:t>
            </a:r>
          </a:p>
          <a:p>
            <a:pPr>
              <a:spcBef>
                <a:spcPts val="600"/>
              </a:spcBef>
              <a:defRPr sz="1150">
                <a:solidFill>
                  <a:srgbClr val="0F172A"/>
                </a:solidFill>
              </a:defRPr>
            </a:pPr>
            <a:r>
              <a:t>- Precision target: bounds QTc estimation error within 95% CI margin of +/- 3.5 ms.</a:t>
            </a:r>
          </a:p>
          <a:p>
            <a:pPr>
              <a:spcBef>
                <a:spcPts val="600"/>
              </a:spcBef>
              <a:defRPr sz="1150">
                <a:solidFill>
                  <a:srgbClr val="0F172A"/>
                </a:solidFill>
              </a:defRPr>
            </a:pPr>
            <a:r>
              <a:t>- Within-patient beat clustering violates independent observation assumptions.</a:t>
            </a:r>
          </a:p>
          <a:p>
            <a:pPr>
              <a:spcBef>
                <a:spcPts val="600"/>
              </a:spcBef>
              <a:defRPr sz="1150">
                <a:solidFill>
                  <a:srgbClr val="0F172A"/>
                </a:solidFill>
              </a:defRPr>
            </a:pPr>
            <a:r>
              <a:t>- Linear mixed-effects models (unstructured covariance) and generalized estimating equations (GEE).</a:t>
            </a:r>
          </a:p>
        </p:txBody>
      </p:sp>
      <p:sp>
        <p:nvSpPr>
          <p:cNvPr id="9" name="TextBox 8"/>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Primary sample size is powered on clinical event rates; secondary analysis accounts for repeated measures.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400" b="1">
                <a:solidFill>
                  <a:srgbClr val="1E3A8A"/>
                </a:solidFill>
                <a:latin typeface="Arial"/>
              </a:defRPr>
            </a:pPr>
            <a:r>
              <a:t>Action Items &amp; Alignment for Today's Meeting</a:t>
            </a:r>
          </a:p>
          <a:p>
            <a:pPr>
              <a:defRPr sz="1300">
                <a:solidFill>
                  <a:srgbClr val="64748B"/>
                </a:solidFill>
                <a:latin typeface="Arial"/>
              </a:defRPr>
            </a:pPr>
            <a:r>
              <a:t>Decisions for protocol finalization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20040"/>
          </a:xfrm>
          <a:prstGeom prst="rect">
            <a:avLst/>
          </a:prstGeom>
          <a:noFill/>
        </p:spPr>
        <p:txBody>
          <a:bodyPr wrap="none" lIns="0" tIns="0" rIns="0" bIns="0">
            <a:spAutoFit/>
          </a:bodyPr>
          <a:lstStyle/>
          <a:p>
            <a:pPr>
              <a:defRPr sz="1000">
                <a:solidFill>
                  <a:srgbClr val="64748B"/>
                </a:solidFill>
                <a:latin typeface="Arial"/>
              </a:defRPr>
            </a:pPr>
            <a:r>
              <a:t>Sunnybrook Arrhythmia Trial Protocol  *  12-Lead AI Integration                                                                     19 / 19</a:t>
            </a:r>
          </a:p>
        </p:txBody>
      </p:sp>
      <p:sp>
        <p:nvSpPr>
          <p:cNvPr id="5" name="Rounded Rectangle 4"/>
          <p:cNvSpPr/>
          <p:nvPr/>
        </p:nvSpPr>
        <p:spPr>
          <a:xfrm>
            <a:off x="731520" y="1645920"/>
            <a:ext cx="5486400" cy="411480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937760" cy="3749039"/>
          </a:xfrm>
          <a:prstGeom prst="rect">
            <a:avLst/>
          </a:prstGeom>
          <a:noFill/>
        </p:spPr>
        <p:txBody>
          <a:bodyPr wrap="square">
            <a:spAutoFit/>
          </a:bodyPr>
          <a:lstStyle/>
          <a:p>
            <a:pPr>
              <a:defRPr sz="1600" b="1">
                <a:solidFill>
                  <a:srgbClr val="1E3A8A"/>
                </a:solidFill>
              </a:defRPr>
            </a:pPr>
            <a:r>
              <a:t>Decisions for Today's Meeting</a:t>
            </a:r>
          </a:p>
          <a:p>
            <a:pPr>
              <a:spcBef>
                <a:spcPts val="800"/>
              </a:spcBef>
              <a:defRPr sz="1150">
                <a:solidFill>
                  <a:srgbClr val="0F172A"/>
                </a:solidFill>
              </a:defRPr>
            </a:pPr>
            <a:r>
              <a:t>1. Protocol structure: Approve formal separation of Aim 1 (clinical trial) and Aim 2 (translational AI).</a:t>
            </a:r>
          </a:p>
          <a:p>
            <a:pPr>
              <a:spcBef>
                <a:spcPts val="800"/>
              </a:spcBef>
              <a:defRPr sz="1150">
                <a:solidFill>
                  <a:srgbClr val="0F172A"/>
                </a:solidFill>
              </a:defRPr>
            </a:pPr>
            <a:r>
              <a:t>2. Paired recording protocol: Approve 5-minute simultaneous in-clinic acquisition procedure.</a:t>
            </a:r>
          </a:p>
          <a:p>
            <a:pPr>
              <a:spcBef>
                <a:spcPts val="800"/>
              </a:spcBef>
              <a:defRPr sz="1150">
                <a:solidFill>
                  <a:srgbClr val="0F172A"/>
                </a:solidFill>
              </a:defRPr>
            </a:pPr>
            <a:r>
              <a:t>3. Secondary biomarker selection: Finalize priority clinical biomarker (QTc monitoring vs. conduction intervals).</a:t>
            </a:r>
          </a:p>
          <a:p>
            <a:pPr>
              <a:spcBef>
                <a:spcPts val="800"/>
              </a:spcBef>
              <a:defRPr sz="1150">
                <a:solidFill>
                  <a:srgbClr val="0F172A"/>
                </a:solidFill>
              </a:defRPr>
            </a:pPr>
            <a:r>
              <a:t>4. Vanguard enrollment: Authorize start of the 20-patient feasibility vanguard.</a:t>
            </a:r>
          </a:p>
        </p:txBody>
      </p:sp>
      <p:sp>
        <p:nvSpPr>
          <p:cNvPr id="7" name="Rounded Rectangle 6"/>
          <p:cNvSpPr/>
          <p:nvPr/>
        </p:nvSpPr>
        <p:spPr>
          <a:xfrm>
            <a:off x="6492240" y="1645920"/>
            <a:ext cx="4937760" cy="41148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828800"/>
            <a:ext cx="4389120" cy="3749039"/>
          </a:xfrm>
          <a:prstGeom prst="rect">
            <a:avLst/>
          </a:prstGeom>
          <a:noFill/>
        </p:spPr>
        <p:txBody>
          <a:bodyPr wrap="square">
            <a:spAutoFit/>
          </a:bodyPr>
          <a:lstStyle/>
          <a:p>
            <a:pPr>
              <a:defRPr sz="1600" b="1">
                <a:solidFill>
                  <a:srgbClr val="0284C7"/>
                </a:solidFill>
              </a:defRPr>
            </a:pPr>
            <a:r>
              <a:t>Expected Outcomes</a:t>
            </a:r>
          </a:p>
          <a:p>
            <a:pPr>
              <a:spcBef>
                <a:spcPts val="800"/>
              </a:spcBef>
              <a:defRPr sz="1150">
                <a:solidFill>
                  <a:srgbClr val="0F172A"/>
                </a:solidFill>
              </a:defRPr>
            </a:pPr>
            <a:r>
              <a:t>- Clinical outcomes: Prospective evaluation of smartwatch surveillance for post-ablation AF recurrence.</a:t>
            </a:r>
          </a:p>
          <a:p>
            <a:pPr>
              <a:spcBef>
                <a:spcPts val="800"/>
              </a:spcBef>
              <a:defRPr sz="1150">
                <a:solidFill>
                  <a:srgbClr val="0F172A"/>
                </a:solidFill>
              </a:defRPr>
            </a:pPr>
            <a:r>
              <a:t>- Methodological outcomes: Benchmark dataset and algorithms for wearable 12-lead reconstruction.</a:t>
            </a:r>
          </a:p>
          <a:p>
            <a:pPr>
              <a:spcBef>
                <a:spcPts val="800"/>
              </a:spcBef>
              <a:defRPr sz="1150">
                <a:solidFill>
                  <a:srgbClr val="0F172A"/>
                </a:solidFill>
              </a:defRPr>
            </a:pPr>
            <a:r>
              <a:t>- Trial integrity: Clear division between primary regulatory endpoints and exploratory AI objectives.</a:t>
            </a:r>
          </a:p>
        </p:txBody>
      </p:sp>
      <p:sp>
        <p:nvSpPr>
          <p:cNvPr id="9" name="TextBox 8"/>
          <p:cNvSpPr txBox="1"/>
          <p:nvPr/>
        </p:nvSpPr>
        <p:spPr>
          <a:xfrm>
            <a:off x="731520" y="5897880"/>
            <a:ext cx="10698480" cy="365760"/>
          </a:xfrm>
          <a:prstGeom prst="rect">
            <a:avLst/>
          </a:prstGeom>
          <a:noFill/>
        </p:spPr>
        <p:txBody>
          <a:bodyPr wrap="none">
            <a:spAutoFit/>
          </a:bodyPr>
          <a:lstStyle/>
          <a:p>
            <a:pPr algn="ctr">
              <a:defRPr sz="1150">
                <a:solidFill>
                  <a:srgbClr val="1E3A8A"/>
                </a:solidFill>
              </a:defRPr>
            </a:pPr>
            <a:r>
              <a:t>Next Step: Finalize protocol amendment text and initiate vanguard enrollment.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